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handoutMasterIdLst>
    <p:handoutMasterId r:id="rId16"/>
  </p:handoutMasterIdLst>
  <p:sldIdLst>
    <p:sldId id="815" r:id="rId3"/>
    <p:sldId id="1661" r:id="rId5"/>
    <p:sldId id="1668" r:id="rId6"/>
    <p:sldId id="1669" r:id="rId7"/>
    <p:sldId id="1670" r:id="rId8"/>
    <p:sldId id="1671" r:id="rId9"/>
    <p:sldId id="1673" r:id="rId10"/>
    <p:sldId id="1672" r:id="rId11"/>
    <p:sldId id="1674" r:id="rId12"/>
    <p:sldId id="1675" r:id="rId13"/>
    <p:sldId id="1676" r:id="rId14"/>
    <p:sldId id="1667" r:id="rId15"/>
  </p:sldIdLst>
  <p:sldSz cx="12192000" cy="6858000"/>
  <p:notesSz cx="7007225" cy="928814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1pPr>
    <a:lvl2pPr marL="4572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2pPr>
    <a:lvl3pPr marL="9144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3pPr>
    <a:lvl4pPr marL="13716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4pPr>
    <a:lvl5pPr marL="18288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5pPr>
    <a:lvl6pPr marL="2286000" algn="l" defTabSz="457200" rtl="0" eaLnBrk="1" latinLnBrk="0" hangingPunct="1">
      <a:defRPr sz="2000" b="1"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6pPr>
    <a:lvl7pPr marL="2743200" algn="l" defTabSz="457200" rtl="0" eaLnBrk="1" latinLnBrk="0" hangingPunct="1">
      <a:defRPr sz="2000" b="1"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7pPr>
    <a:lvl8pPr marL="3200400" algn="l" defTabSz="457200" rtl="0" eaLnBrk="1" latinLnBrk="0" hangingPunct="1">
      <a:defRPr sz="2000" b="1"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8pPr>
    <a:lvl9pPr marL="3657600" algn="l" defTabSz="457200" rtl="0" eaLnBrk="1" latinLnBrk="0" hangingPunct="1">
      <a:defRPr sz="2000" b="1"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9pPr>
  </p:defaultTextStyle>
  <p:extLst>
    <p:ext uri="{521415D9-36F7-43E2-AB2F-B90AF26B5E84}">
      <p14:sectionLst xmlns:p14="http://schemas.microsoft.com/office/powerpoint/2010/main">
        <p14:section name="Default Section" id="{80895FA2-A3F3-48A1-B582-08998AC157D4}">
          <p14:sldIdLst>
            <p14:sldId id="815"/>
            <p14:sldId id="1661"/>
            <p14:sldId id="1668"/>
            <p14:sldId id="1669"/>
            <p14:sldId id="1670"/>
            <p14:sldId id="1671"/>
            <p14:sldId id="1673"/>
            <p14:sldId id="1672"/>
            <p14:sldId id="1674"/>
            <p14:sldId id="1675"/>
            <p14:sldId id="1676"/>
            <p14:sldId id="16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79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EA1"/>
    <a:srgbClr val="E7E6E6"/>
    <a:srgbClr val="F9FEBA"/>
    <a:srgbClr val="A46750"/>
    <a:srgbClr val="5BC5DB"/>
    <a:srgbClr val="EDB833"/>
    <a:srgbClr val="C76CC9"/>
    <a:srgbClr val="D4E0D9"/>
    <a:srgbClr val="ED7D31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26"/>
    <p:restoredTop sz="94488"/>
  </p:normalViewPr>
  <p:slideViewPr>
    <p:cSldViewPr snapToGrid="0" showGuides="1">
      <p:cViewPr varScale="1">
        <p:scale>
          <a:sx n="149" d="100"/>
          <a:sy n="149" d="100"/>
        </p:scale>
        <p:origin x="480" y="184"/>
      </p:cViewPr>
      <p:guideLst>
        <p:guide orient="horz" pos="2183"/>
        <p:guide pos="379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57"/>
        <p:guide pos="218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3094038" y="8848725"/>
            <a:ext cx="820737" cy="271463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lIns="88906" tIns="45261" rIns="88906" bIns="45261">
            <a:spAutoFit/>
          </a:bodyPr>
          <a:lstStyle/>
          <a:p>
            <a:pPr algn="ctr" defTabSz="882650" eaLnBrk="0" hangingPunct="0">
              <a:lnSpc>
                <a:spcPct val="90000"/>
              </a:lnSpc>
              <a:defRPr/>
            </a:pPr>
            <a:r>
              <a:rPr lang="en-US" sz="1300" b="0"/>
              <a:t>Page </a:t>
            </a:r>
            <a:fld id="{385C28AD-3500-FB49-B7BC-D0806CE874BB}" type="slidenum">
              <a:rPr lang="en-US" sz="1300" b="0"/>
            </a:fld>
            <a:endParaRPr lang="en-US" sz="1300" b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094038" y="8848725"/>
            <a:ext cx="820737" cy="271463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wrap="none" lIns="88906" tIns="45261" rIns="88906" bIns="45261">
            <a:spAutoFit/>
          </a:bodyPr>
          <a:lstStyle/>
          <a:p>
            <a:pPr algn="ctr" defTabSz="882650" eaLnBrk="0" hangingPunct="0">
              <a:lnSpc>
                <a:spcPct val="90000"/>
              </a:lnSpc>
              <a:defRPr/>
            </a:pPr>
            <a:r>
              <a:rPr lang="en-US" sz="1300" b="0"/>
              <a:t>Page </a:t>
            </a:r>
            <a:fld id="{ABC75BFB-BF24-D042-9596-FBA3CD02835A}" type="slidenum">
              <a:rPr lang="en-US" sz="1300" b="0"/>
            </a:fld>
            <a:endParaRPr lang="en-US" sz="1300" b="0"/>
          </a:p>
        </p:txBody>
      </p:sp>
      <p:sp>
        <p:nvSpPr>
          <p:cNvPr id="21507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27038" y="706438"/>
            <a:ext cx="6153150" cy="34623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</p:sp>
      <p:sp>
        <p:nvSpPr>
          <p:cNvPr id="2052" name="Rectangle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1663"/>
            <a:ext cx="5137150" cy="4179887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92140" tIns="45261" rIns="92140" bIns="45261" numCol="1" anchor="t" anchorCtr="0" compatLnSpc="1"/>
          <a:lstStyle/>
          <a:p>
            <a:pPr lvl="0"/>
            <a:r>
              <a:rPr lang="en-US" noProof="0"/>
              <a:t>Body Text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ヒラギノ角ゴ Pro W3" charset="-128"/>
      </a:defRPr>
    </a:lvl1pPr>
    <a:lvl2pPr marL="4572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ヒラギノ角ゴ Pro W3" charset="-128"/>
      </a:defRPr>
    </a:lvl2pPr>
    <a:lvl3pPr marL="9144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ヒラギノ角ゴ Pro W3" charset="-128"/>
      </a:defRPr>
    </a:lvl3pPr>
    <a:lvl4pPr marL="13716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ヒラギノ角ゴ Pro W3" charset="-128"/>
      </a:defRPr>
    </a:lvl4pPr>
    <a:lvl5pPr marL="18288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ヒラギノ角ゴ Pro W3" charset="-128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7038" y="706438"/>
            <a:ext cx="6153150" cy="34623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7038" y="706438"/>
            <a:ext cx="6153150" cy="34623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7038" y="706438"/>
            <a:ext cx="6153150" cy="34623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7038" y="706438"/>
            <a:ext cx="6153150" cy="34623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7038" y="706438"/>
            <a:ext cx="6153150" cy="34623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7038" y="706438"/>
            <a:ext cx="6153150" cy="34623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7038" y="706438"/>
            <a:ext cx="6153150" cy="34623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7038" y="706438"/>
            <a:ext cx="6153150" cy="34623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7038" y="706438"/>
            <a:ext cx="6153150" cy="34623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7038" y="706438"/>
            <a:ext cx="6153150" cy="34623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7038" y="706438"/>
            <a:ext cx="6153150" cy="34623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7038" y="706438"/>
            <a:ext cx="6153150" cy="34623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329752"/>
            <a:ext cx="10566400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537486"/>
            <a:ext cx="10566400" cy="4663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536192"/>
            <a:ext cx="5181600" cy="46232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536192"/>
            <a:ext cx="5181600" cy="461515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656" y="329184"/>
            <a:ext cx="10972800" cy="98755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85800"/>
            <a:ext cx="26416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685800"/>
            <a:ext cx="77216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Title, Text and Media Cl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329184"/>
            <a:ext cx="10566400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2800" y="1754188"/>
            <a:ext cx="5181600" cy="4341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Media Placeholder 3"/>
          <p:cNvSpPr>
            <a:spLocks noGrp="1"/>
          </p:cNvSpPr>
          <p:nvPr>
            <p:ph type="media" sz="half" idx="2"/>
          </p:nvPr>
        </p:nvSpPr>
        <p:spPr>
          <a:xfrm>
            <a:off x="6197600" y="1754188"/>
            <a:ext cx="5181600" cy="4341812"/>
          </a:xfrm>
        </p:spPr>
        <p:txBody>
          <a:bodyPr/>
          <a:lstStyle/>
          <a:p>
            <a:pPr lvl="0"/>
            <a:endParaRPr lang="en-US" noProof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329184"/>
            <a:ext cx="10566400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2800" y="1536192"/>
            <a:ext cx="10566400" cy="2093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2800" y="3827534"/>
            <a:ext cx="10566400" cy="22684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329184"/>
            <a:ext cx="10566400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2800" y="1536192"/>
            <a:ext cx="5181600" cy="45813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536192"/>
            <a:ext cx="5181600" cy="2218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08454"/>
            <a:ext cx="5181600" cy="21875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812800" y="329184"/>
            <a:ext cx="10566400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12800" y="1536192"/>
            <a:ext cx="5181600" cy="2093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536192"/>
            <a:ext cx="5181600" cy="2093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812800" y="3859902"/>
            <a:ext cx="5181600" cy="22360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3859902"/>
            <a:ext cx="5181600" cy="22360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329184"/>
            <a:ext cx="10566400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536192"/>
            <a:ext cx="518160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536192"/>
            <a:ext cx="5181600" cy="2093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867994"/>
            <a:ext cx="5181600" cy="22846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>
  <p:cSld name="Title, 2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685800"/>
            <a:ext cx="10566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12800" y="1981200"/>
            <a:ext cx="51816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812800" y="4114800"/>
            <a:ext cx="51816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6197600" y="1981200"/>
            <a:ext cx="51816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1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E7F6FF"/>
            </a:gs>
            <a:gs pos="50000">
              <a:srgbClr val="FFFFFF"/>
            </a:gs>
            <a:gs pos="100000">
              <a:srgbClr val="E7F6FF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536700"/>
            <a:ext cx="10566400" cy="4662488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90488" tIns="44450" rIns="90488" bIns="4445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812800" y="328613"/>
            <a:ext cx="10566400" cy="9906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90488" tIns="44450" rIns="90488" bIns="4445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pic>
        <p:nvPicPr>
          <p:cNvPr id="1028" name="Picture 6"/>
          <p:cNvPicPr>
            <a:picLocks noChangeArrowheads="1"/>
          </p:cNvPicPr>
          <p:nvPr/>
        </p:nvPicPr>
        <p:blipFill>
          <a:blip r:embed="rId18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094720" y="5760720"/>
            <a:ext cx="1097280" cy="109728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812800" y="6447576"/>
            <a:ext cx="10126133" cy="30670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400" i="1" dirty="0">
                <a:latin typeface="+mn-lt"/>
              </a:rPr>
              <a:t>VIPER		                      		Feb</a:t>
            </a:r>
            <a:r>
              <a:rPr lang="en-US" sz="1400" b="1" i="1" kern="1200" baseline="0" dirty="0">
                <a:solidFill>
                  <a:schemeClr val="tx1"/>
                </a:solidFill>
                <a:latin typeface="+mn-lt"/>
                <a:ea typeface="MS PGothic" panose="020B0600070205080204" charset="-128"/>
              </a:rPr>
              <a:t>, 2026		</a:t>
            </a:r>
            <a:r>
              <a:rPr lang="en-US" sz="1400" i="1" dirty="0">
                <a:latin typeface="+mn-lt"/>
              </a:rPr>
              <a:t>	    	       </a:t>
            </a:r>
            <a:fld id="{6C6B5032-2B93-3B45-B0A5-76F611A118AE}" type="slidenum">
              <a:rPr lang="en-US" sz="1400" i="1" smtClean="0">
                <a:latin typeface="+mn-lt"/>
              </a:rPr>
            </a:fld>
            <a:endParaRPr lang="en-US" sz="1400" i="1" dirty="0"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ヒラギノ角ゴ Pro W3" charset="-128"/>
          <a:cs typeface="ヒラギノ角ゴ Pro W3" charset="-128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anose="02020603050405020304" charset="0"/>
          <a:ea typeface="ヒラギノ角ゴ Pro W3" charset="-128"/>
          <a:cs typeface="ヒラギノ角ゴ Pro W3" charset="-128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anose="02020603050405020304" charset="0"/>
          <a:ea typeface="ヒラギノ角ゴ Pro W3" charset="-128"/>
          <a:cs typeface="ヒラギノ角ゴ Pro W3" charset="-128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anose="02020603050405020304" charset="0"/>
          <a:ea typeface="ヒラギノ角ゴ Pro W3" charset="-128"/>
          <a:cs typeface="ヒラギノ角ゴ Pro W3" charset="-128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anose="02020603050405020304" charset="0"/>
          <a:ea typeface="ヒラギノ角ゴ Pro W3" charset="-128"/>
          <a:cs typeface="ヒラギノ角ゴ Pro W3" charset="-128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anose="02020603050405020304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anose="02020603050405020304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anose="02020603050405020304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anose="02020603050405020304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400" b="1">
          <a:solidFill>
            <a:schemeClr val="tx1"/>
          </a:solidFill>
          <a:latin typeface="+mn-lt"/>
          <a:ea typeface="ヒラギノ角ゴ Pro W3" charset="-128"/>
          <a:cs typeface="ヒラギノ角ゴ Pro W3" charset="-128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400" b="1">
          <a:solidFill>
            <a:schemeClr val="tx1"/>
          </a:solidFill>
          <a:latin typeface="+mn-lt"/>
          <a:ea typeface="ヒラギノ角ゴ Pro W3" charset="-128"/>
          <a:cs typeface="ヒラギノ角ゴ Pro W3" charset="-128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400" b="1">
          <a:solidFill>
            <a:schemeClr val="tx1"/>
          </a:solidFill>
          <a:latin typeface="+mn-lt"/>
          <a:ea typeface="ヒラギノ角ゴ Pro W3" charset="-128"/>
          <a:cs typeface="ヒラギノ角ゴ Pro W3" charset="-128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1400" b="1">
          <a:solidFill>
            <a:schemeClr val="tx1"/>
          </a:solidFill>
          <a:latin typeface="+mn-lt"/>
          <a:ea typeface="ヒラギノ角ゴ Pro W3" charset="-128"/>
          <a:cs typeface="ヒラギノ角ゴ Pro W3" charset="-128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1400" b="1">
          <a:solidFill>
            <a:schemeClr val="tx1"/>
          </a:solidFill>
          <a:latin typeface="+mn-lt"/>
          <a:ea typeface="ヒラギノ角ゴ Pro W3" charset="-128"/>
          <a:cs typeface="ヒラギノ角ゴ Pro W3" charset="-128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1400" b="1">
          <a:solidFill>
            <a:schemeClr val="tx1"/>
          </a:solidFill>
          <a:latin typeface="+mn-lt"/>
          <a:ea typeface="ヒラギノ角ゴ Pro W3" charset="-128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1400" b="1">
          <a:solidFill>
            <a:schemeClr val="tx1"/>
          </a:solidFill>
          <a:latin typeface="+mn-lt"/>
          <a:ea typeface="ヒラギノ角ゴ Pro W3" charset="-128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1400" b="1">
          <a:solidFill>
            <a:schemeClr val="tx1"/>
          </a:solidFill>
          <a:latin typeface="+mn-lt"/>
          <a:ea typeface="ヒラギノ角ゴ Pro W3" charset="-128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1400" b="1">
          <a:solidFill>
            <a:schemeClr val="tx1"/>
          </a:solidFill>
          <a:latin typeface="+mn-lt"/>
          <a:ea typeface="ヒラギノ角ゴ Pro W3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image" Target="../media/image8.png"/><Relationship Id="rId18" Type="http://schemas.openxmlformats.org/officeDocument/2006/relationships/notesSlide" Target="../notesSlides/notesSlide8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21.xml"/><Relationship Id="rId15" Type="http://schemas.openxmlformats.org/officeDocument/2006/relationships/tags" Target="../tags/tag20.xml"/><Relationship Id="rId14" Type="http://schemas.openxmlformats.org/officeDocument/2006/relationships/tags" Target="../tags/tag19.xml"/><Relationship Id="rId13" Type="http://schemas.openxmlformats.org/officeDocument/2006/relationships/tags" Target="../tags/tag18.xml"/><Relationship Id="rId12" Type="http://schemas.openxmlformats.org/officeDocument/2006/relationships/tags" Target="../tags/tag17.xml"/><Relationship Id="rId11" Type="http://schemas.openxmlformats.org/officeDocument/2006/relationships/tags" Target="../tags/tag16.xml"/><Relationship Id="rId10" Type="http://schemas.openxmlformats.org/officeDocument/2006/relationships/tags" Target="../tags/tag15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283845" y="671830"/>
            <a:ext cx="11348085" cy="1430020"/>
          </a:xfrm>
          <a:noFill/>
        </p:spPr>
        <p:txBody>
          <a:bodyPr/>
          <a:lstStyle/>
          <a:p>
            <a:r>
              <a:rPr lang="en-US" altLang="zh-CN" dirty="0"/>
              <a:t>Temporal Imbalance of Positive and Negative Supervision in Class-Incremental Learning</a:t>
            </a:r>
            <a:endParaRPr lang="en-US" altLang="zh-CN" dirty="0"/>
          </a:p>
        </p:txBody>
      </p:sp>
      <p:sp>
        <p:nvSpPr>
          <p:cNvPr id="2" name="Rectangle 9"/>
          <p:cNvSpPr>
            <a:spLocks noChangeArrowheads="1"/>
          </p:cNvSpPr>
          <p:nvPr/>
        </p:nvSpPr>
        <p:spPr bwMode="auto">
          <a:xfrm>
            <a:off x="1826260" y="3072765"/>
            <a:ext cx="8744585" cy="168465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square" lIns="90488" tIns="44450" rIns="90488" bIns="44450">
            <a:noAutofit/>
          </a:bodyPr>
          <a:lstStyle/>
          <a:p>
            <a:pPr algn="ctr"/>
            <a:endParaRPr lang="en-US" sz="2400" b="0" dirty="0">
              <a:latin typeface="Times New Roman" panose="02020603050405020304" charset="0"/>
            </a:endParaRPr>
          </a:p>
          <a:p>
            <a:pPr algn="ctr"/>
            <a:r>
              <a:rPr lang="en-US" sz="2400" b="0" dirty="0">
                <a:latin typeface="Times New Roman" panose="02020603050405020304" charset="0"/>
              </a:rPr>
              <a:t>Jinge Ma          Fengqing Zhu</a:t>
            </a:r>
            <a:endParaRPr lang="en-US" sz="2400" b="0" dirty="0">
              <a:latin typeface="Times New Roman" panose="02020603050405020304" charset="0"/>
            </a:endParaRPr>
          </a:p>
          <a:p>
            <a:pPr algn="ctr"/>
            <a:r>
              <a:rPr lang="en-US" sz="2400" b="0" dirty="0">
                <a:latin typeface="Times New Roman" panose="02020603050405020304" charset="0"/>
              </a:rPr>
              <a:t>Video and Image Processing Laboratory (</a:t>
            </a:r>
            <a:r>
              <a:rPr lang="en-US" sz="2400" b="0" i="1" dirty="0">
                <a:latin typeface="Times New Roman" panose="02020603050405020304" charset="0"/>
              </a:rPr>
              <a:t>VIPER</a:t>
            </a:r>
            <a:r>
              <a:rPr lang="en-US" sz="2400" b="0" dirty="0">
                <a:latin typeface="Times New Roman" panose="02020603050405020304" charset="0"/>
              </a:rPr>
              <a:t>)</a:t>
            </a:r>
            <a:endParaRPr lang="en-US" sz="2400" b="0" dirty="0">
              <a:latin typeface="Times New Roman" panose="02020603050405020304" charset="0"/>
            </a:endParaRPr>
          </a:p>
          <a:p>
            <a:pPr algn="ctr"/>
            <a:r>
              <a:rPr lang="en-US" sz="2400" b="0" dirty="0">
                <a:latin typeface="Times New Roman" panose="02020603050405020304" charset="0"/>
              </a:rPr>
              <a:t>Purdue University</a:t>
            </a:r>
            <a:endParaRPr lang="en-US" sz="2400" b="0" dirty="0">
              <a:latin typeface="Times New Roman" panose="02020603050405020304" charset="0"/>
            </a:endParaRPr>
          </a:p>
          <a:p>
            <a:pPr algn="ctr"/>
            <a:r>
              <a:rPr lang="en-US" sz="2400" b="0" dirty="0">
                <a:latin typeface="Times New Roman" panose="02020603050405020304" charset="0"/>
              </a:rPr>
              <a:t>West Lafayette, Indiana</a:t>
            </a:r>
            <a:endParaRPr lang="en-US" sz="2400" b="0" dirty="0">
              <a:latin typeface="Times New Roman" panose="02020603050405020304" charset="0"/>
            </a:endParaRPr>
          </a:p>
          <a:p>
            <a:pPr algn="ctr" eaLnBrk="0" hangingPunct="0"/>
            <a:endParaRPr lang="en-US" sz="2400" dirty="0">
              <a:latin typeface="Times New Roman" panose="02020603050405020304" charset="0"/>
            </a:endParaRPr>
          </a:p>
          <a:p>
            <a:pPr algn="ctr" eaLnBrk="0" hangingPunct="0"/>
            <a:endParaRPr lang="en-US" sz="2400" dirty="0">
              <a:latin typeface="+mj-lt"/>
              <a:cs typeface="Arial" panose="020B0604020202020204" pitchFamily="34" charset="0"/>
            </a:endParaRPr>
          </a:p>
          <a:p>
            <a:pPr algn="ctr" eaLnBrk="0" hangingPunct="0"/>
            <a:endParaRPr lang="en-US" sz="2400" dirty="0">
              <a:latin typeface="Times New Roman" panose="02020603050405020304" charset="0"/>
            </a:endParaRPr>
          </a:p>
        </p:txBody>
      </p:sp>
      <p:sp>
        <p:nvSpPr>
          <p:cNvPr id="3" name="Rectangle 9"/>
          <p:cNvSpPr>
            <a:spLocks noChangeArrowheads="1"/>
          </p:cNvSpPr>
          <p:nvPr/>
        </p:nvSpPr>
        <p:spPr bwMode="auto">
          <a:xfrm>
            <a:off x="1660525" y="1880235"/>
            <a:ext cx="8744585" cy="119253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square" lIns="90488" tIns="44450" rIns="90488" bIns="44450">
            <a:noAutofit/>
          </a:bodyPr>
          <a:lstStyle/>
          <a:p>
            <a:pPr algn="ctr"/>
            <a:endParaRPr lang="en-US" sz="2400" b="0" dirty="0">
              <a:latin typeface="Times New Roman" panose="02020603050405020304" charset="0"/>
            </a:endParaRPr>
          </a:p>
          <a:p>
            <a:pPr algn="ctr"/>
            <a:r>
              <a:rPr lang="en-US" altLang="zh-CN" sz="2400" dirty="0">
                <a:latin typeface="+mj-lt"/>
                <a:cs typeface="Arial" panose="020B0604020202020204" pitchFamily="34" charset="0"/>
              </a:rPr>
              <a:t>CVPR2026</a:t>
            </a:r>
            <a:endParaRPr lang="en-US" sz="2400" dirty="0">
              <a:latin typeface="Times New Roman" panose="02020603050405020304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252095" y="85725"/>
            <a:ext cx="12265660" cy="9906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square" lIns="90488" tIns="44450" rIns="90488" bIns="44450">
            <a:noAutofit/>
          </a:bodyPr>
          <a:lstStyle/>
          <a:p>
            <a:pPr algn="l" eaLnBrk="0" hangingPunct="0"/>
            <a:r>
              <a:rPr lang="en-US" sz="2400" dirty="0">
                <a:latin typeface="+mj-lt"/>
                <a:cs typeface="+mj-lt"/>
              </a:rPr>
              <a:t>Background:  the Set-up of Class-Incremental Learning</a:t>
            </a:r>
            <a:endParaRPr lang="en-US" sz="2400" dirty="0">
              <a:latin typeface="+mj-lt"/>
              <a:cs typeface="+mj-lt"/>
            </a:endParaRPr>
          </a:p>
        </p:txBody>
      </p:sp>
      <p:pic>
        <p:nvPicPr>
          <p:cNvPr id="2" name="图片 1" descr="Code_Generated_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710" y="681355"/>
            <a:ext cx="10532745" cy="5266690"/>
          </a:xfrm>
          <a:prstGeom prst="rect">
            <a:avLst/>
          </a:prstGeom>
        </p:spPr>
      </p:pic>
      <p:sp>
        <p:nvSpPr>
          <p:cNvPr id="6" name="左大括号 5"/>
          <p:cNvSpPr/>
          <p:nvPr/>
        </p:nvSpPr>
        <p:spPr>
          <a:xfrm rot="5400000">
            <a:off x="8463915" y="3282950"/>
            <a:ext cx="353695" cy="2154555"/>
          </a:xfrm>
          <a:prstGeom prst="leftBrace">
            <a:avLst>
              <a:gd name="adj1" fmla="val 8333"/>
              <a:gd name="adj2" fmla="val 50335"/>
            </a:avLst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903210" y="3738245"/>
            <a:ext cx="16706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0"/>
              <a:t>Replay Exemplars</a:t>
            </a:r>
            <a:endParaRPr lang="en-US" altLang="zh-CN" sz="1400" b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-2181225" y="88900"/>
            <a:ext cx="12265660" cy="9906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square" lIns="90488" tIns="44450" rIns="90488" bIns="44450">
            <a:noAutofit/>
          </a:bodyPr>
          <a:lstStyle/>
          <a:p>
            <a:pPr algn="ctr" eaLnBrk="0" hangingPunct="0"/>
            <a:endParaRPr lang="en-US" sz="2400" dirty="0">
              <a:latin typeface="+mj-lt"/>
              <a:cs typeface="+mj-lt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l="786" t="1310" r="425" b="869"/>
          <a:stretch>
            <a:fillRect/>
          </a:stretch>
        </p:blipFill>
        <p:spPr>
          <a:xfrm>
            <a:off x="1426845" y="1365250"/>
            <a:ext cx="6035675" cy="3883025"/>
          </a:xfrm>
          <a:prstGeom prst="rect">
            <a:avLst/>
          </a:prstGeom>
        </p:spPr>
      </p:pic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92405" y="88900"/>
            <a:ext cx="12265660" cy="77216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square" lIns="90488" tIns="44450" rIns="90488" bIns="44450">
            <a:noAutofit/>
          </a:bodyPr>
          <a:lstStyle/>
          <a:p>
            <a:pPr algn="l" eaLnBrk="0" hangingPunct="0"/>
            <a:r>
              <a:rPr lang="en-US" sz="2400" dirty="0">
                <a:latin typeface="+mj-lt"/>
                <a:cs typeface="+mj-lt"/>
              </a:rPr>
              <a:t>Temporal Imbalance:  an Illustration</a:t>
            </a:r>
            <a:endParaRPr lang="en-US" sz="2400" dirty="0">
              <a:latin typeface="+mj-lt"/>
              <a:cs typeface="+mj-lt"/>
            </a:endParaRPr>
          </a:p>
        </p:txBody>
      </p:sp>
      <p:cxnSp>
        <p:nvCxnSpPr>
          <p:cNvPr id="11" name="曲线连接符 10"/>
          <p:cNvCxnSpPr/>
          <p:nvPr/>
        </p:nvCxnSpPr>
        <p:spPr>
          <a:xfrm flipV="1">
            <a:off x="5238115" y="3109595"/>
            <a:ext cx="2971800" cy="1524000"/>
          </a:xfrm>
          <a:prstGeom prst="curvedConnector3">
            <a:avLst>
              <a:gd name="adj1" fmla="val 50021"/>
            </a:avLst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2" name="曲线连接符 11"/>
          <p:cNvCxnSpPr/>
          <p:nvPr/>
        </p:nvCxnSpPr>
        <p:spPr>
          <a:xfrm flipV="1">
            <a:off x="5857240" y="3109595"/>
            <a:ext cx="2352675" cy="1524000"/>
          </a:xfrm>
          <a:prstGeom prst="curvedConnector3">
            <a:avLst>
              <a:gd name="adj1" fmla="val 50013"/>
            </a:avLst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3" name="文本框 12"/>
          <p:cNvSpPr txBox="1"/>
          <p:nvPr/>
        </p:nvSpPr>
        <p:spPr>
          <a:xfrm>
            <a:off x="8276590" y="2867025"/>
            <a:ext cx="35433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eaLnBrk="0" hangingPunct="0">
              <a:buClrTx/>
              <a:buSzTx/>
              <a:buFontTx/>
            </a:pPr>
            <a:r>
              <a:rPr lang="en-US" sz="2400" dirty="0">
                <a:latin typeface="+mj-lt"/>
                <a:cs typeface="+mj-lt"/>
              </a:rPr>
              <a:t>No class imbalance between old classes</a:t>
            </a:r>
            <a:br>
              <a:rPr lang="en-US" sz="2400" dirty="0">
                <a:latin typeface="+mj-lt"/>
                <a:cs typeface="+mj-lt"/>
              </a:rPr>
            </a:br>
            <a:r>
              <a:rPr lang="en-US" sz="2400" dirty="0">
                <a:latin typeface="+mj-lt"/>
                <a:cs typeface="+mj-lt"/>
              </a:rPr>
              <a:t>in the current task</a:t>
            </a:r>
            <a:endParaRPr lang="en-US" sz="2400" dirty="0">
              <a:latin typeface="+mj-lt"/>
              <a:cs typeface="+mj-lt"/>
            </a:endParaRPr>
          </a:p>
        </p:txBody>
      </p:sp>
      <p:cxnSp>
        <p:nvCxnSpPr>
          <p:cNvPr id="2" name="直接箭头连接符 1"/>
          <p:cNvCxnSpPr/>
          <p:nvPr/>
        </p:nvCxnSpPr>
        <p:spPr>
          <a:xfrm>
            <a:off x="3361690" y="5033645"/>
            <a:ext cx="419100" cy="809625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5" name="直接箭头连接符 4"/>
          <p:cNvCxnSpPr/>
          <p:nvPr/>
        </p:nvCxnSpPr>
        <p:spPr>
          <a:xfrm>
            <a:off x="2190115" y="4909820"/>
            <a:ext cx="1504950" cy="91440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6" name="直接箭头连接符 5"/>
          <p:cNvCxnSpPr/>
          <p:nvPr/>
        </p:nvCxnSpPr>
        <p:spPr>
          <a:xfrm flipH="1">
            <a:off x="3942715" y="4976495"/>
            <a:ext cx="146050" cy="83820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7" name="文本框 6"/>
          <p:cNvSpPr txBox="1"/>
          <p:nvPr/>
        </p:nvSpPr>
        <p:spPr>
          <a:xfrm>
            <a:off x="3117215" y="5752465"/>
            <a:ext cx="60667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eaLnBrk="0" hangingPunct="0">
              <a:buClrTx/>
              <a:buSzTx/>
              <a:buFontTx/>
            </a:pPr>
            <a:r>
              <a:rPr lang="en-US" sz="2400" dirty="0">
                <a:latin typeface="+mj-lt"/>
                <a:cs typeface="+mj-lt"/>
              </a:rPr>
              <a:t>But with different historical distributions</a:t>
            </a:r>
            <a:endParaRPr lang="en-US" sz="2400" dirty="0">
              <a:latin typeface="+mj-lt"/>
              <a:cs typeface="+mj-lt"/>
            </a:endParaRPr>
          </a:p>
        </p:txBody>
      </p:sp>
      <p:cxnSp>
        <p:nvCxnSpPr>
          <p:cNvPr id="8" name="肘形连接符 7"/>
          <p:cNvCxnSpPr/>
          <p:nvPr/>
        </p:nvCxnSpPr>
        <p:spPr>
          <a:xfrm flipV="1">
            <a:off x="7305040" y="4452620"/>
            <a:ext cx="504825" cy="371475"/>
          </a:xfrm>
          <a:prstGeom prst="bentConnector3">
            <a:avLst>
              <a:gd name="adj1" fmla="val 1006"/>
            </a:avLst>
          </a:prstGeom>
          <a:solidFill>
            <a:schemeClr val="bg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4" name="文本框 13"/>
          <p:cNvSpPr txBox="1"/>
          <p:nvPr/>
        </p:nvSpPr>
        <p:spPr>
          <a:xfrm>
            <a:off x="7809865" y="4265295"/>
            <a:ext cx="60667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eaLnBrk="0" hangingPunct="0">
              <a:buClrTx/>
              <a:buSzTx/>
              <a:buFontTx/>
            </a:pPr>
            <a:r>
              <a:rPr lang="en-US" sz="1800" dirty="0">
                <a:solidFill>
                  <a:srgbClr val="FF0000"/>
                </a:solidFill>
                <a:latin typeface="+mj-lt"/>
                <a:cs typeface="+mj-lt"/>
              </a:rPr>
              <a:t>The moment of evaluation</a:t>
            </a:r>
            <a:endParaRPr lang="en-US" sz="1800" dirty="0">
              <a:solidFill>
                <a:srgbClr val="FF0000"/>
              </a:solidFill>
              <a:latin typeface="+mj-lt"/>
              <a:cs typeface="+mj-lt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104140" y="88900"/>
            <a:ext cx="10046970" cy="9906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square" lIns="90488" tIns="44450" rIns="90488" bIns="44450">
            <a:noAutofit/>
          </a:bodyPr>
          <a:lstStyle/>
          <a:p>
            <a:pPr algn="ctr" eaLnBrk="0" hangingPunct="0"/>
            <a:endParaRPr lang="en-US" sz="2400" dirty="0">
              <a:latin typeface="+mj-lt"/>
              <a:cs typeface="+mj-lt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92405" y="88900"/>
            <a:ext cx="12265660" cy="77216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square" lIns="90488" tIns="44450" rIns="90488" bIns="44450">
            <a:noAutofit/>
          </a:bodyPr>
          <a:lstStyle/>
          <a:p>
            <a:pPr algn="l" eaLnBrk="0" hangingPunct="0"/>
            <a:r>
              <a:rPr lang="en-US" sz="2400" dirty="0">
                <a:latin typeface="+mj-lt"/>
                <a:cs typeface="+mj-lt"/>
                <a:sym typeface="+mn-ea"/>
              </a:rPr>
              <a:t>Temporal Imbalance:  an Observation</a:t>
            </a:r>
            <a:endParaRPr lang="en-US" sz="2400" dirty="0">
              <a:latin typeface="+mj-lt"/>
              <a:cs typeface="+mj-lt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1204"/>
          <a:stretch>
            <a:fillRect/>
          </a:stretch>
        </p:blipFill>
        <p:spPr>
          <a:xfrm>
            <a:off x="1280795" y="861060"/>
            <a:ext cx="9630410" cy="4608195"/>
          </a:xfrm>
          <a:prstGeom prst="rect">
            <a:avLst/>
          </a:prstGeom>
        </p:spPr>
      </p:pic>
      <p:sp>
        <p:nvSpPr>
          <p:cNvPr id="3" name="下箭头 2"/>
          <p:cNvSpPr/>
          <p:nvPr>
            <p:custDataLst>
              <p:tags r:id="rId2"/>
            </p:custDataLst>
          </p:nvPr>
        </p:nvSpPr>
        <p:spPr>
          <a:xfrm rot="10800000">
            <a:off x="2113915" y="5469255"/>
            <a:ext cx="247650" cy="361950"/>
          </a:xfrm>
          <a:prstGeom prst="downArrow">
            <a:avLst/>
          </a:prstGeom>
          <a:solidFill>
            <a:schemeClr val="accent2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下箭头 4"/>
          <p:cNvSpPr/>
          <p:nvPr>
            <p:custDataLst>
              <p:tags r:id="rId3"/>
            </p:custDataLst>
          </p:nvPr>
        </p:nvSpPr>
        <p:spPr>
          <a:xfrm rot="10800000">
            <a:off x="5517515" y="5465445"/>
            <a:ext cx="247650" cy="361950"/>
          </a:xfrm>
          <a:prstGeom prst="downArrow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990600" y="5827395"/>
            <a:ext cx="27235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+mj-lt"/>
                <a:cs typeface="+mj-lt"/>
              </a:rPr>
              <a:t>Class A(older old class)</a:t>
            </a:r>
            <a:endParaRPr lang="zh-CN" altLang="en-US">
              <a:latin typeface="+mj-lt"/>
              <a:ea typeface="宋体" panose="02010600030101010101" pitchFamily="2" charset="-122"/>
              <a:cs typeface="+mj-lt"/>
            </a:endParaRPr>
          </a:p>
        </p:txBody>
      </p:sp>
      <p:sp>
        <p:nvSpPr>
          <p:cNvPr id="19" name="文本框 18"/>
          <p:cNvSpPr txBox="1"/>
          <p:nvPr>
            <p:custDataLst>
              <p:tags r:id="rId5"/>
            </p:custDataLst>
          </p:nvPr>
        </p:nvSpPr>
        <p:spPr>
          <a:xfrm>
            <a:off x="4184650" y="5827395"/>
            <a:ext cx="27235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+mj-lt"/>
                <a:cs typeface="+mj-lt"/>
              </a:rPr>
              <a:t>Class B(</a:t>
            </a:r>
            <a:r>
              <a:rPr lang="en-US" altLang="zh-CN">
                <a:latin typeface="+mj-lt"/>
                <a:cs typeface="+mj-lt"/>
              </a:rPr>
              <a:t>newer old class)</a:t>
            </a:r>
            <a:endParaRPr lang="zh-CN" altLang="en-US">
              <a:latin typeface="+mj-lt"/>
              <a:ea typeface="宋体" panose="02010600030101010101" pitchFamily="2" charset="-122"/>
              <a:cs typeface="+mj-lt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9633585" y="1652270"/>
            <a:ext cx="1666875" cy="1552575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4821555" y="3738245"/>
            <a:ext cx="1638935" cy="1552575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417955" y="1595120"/>
            <a:ext cx="1638935" cy="1552575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6306820" y="3274695"/>
            <a:ext cx="1638935" cy="1552575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104140" y="88900"/>
            <a:ext cx="10046970" cy="9906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square" lIns="90488" tIns="44450" rIns="90488" bIns="44450">
            <a:noAutofit/>
          </a:bodyPr>
          <a:lstStyle/>
          <a:p>
            <a:pPr algn="ctr" eaLnBrk="0" hangingPunct="0"/>
            <a:endParaRPr lang="en-US" sz="2400" dirty="0">
              <a:latin typeface="+mj-lt"/>
              <a:cs typeface="+mj-lt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92405" y="88900"/>
            <a:ext cx="12265660" cy="77216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square" lIns="90488" tIns="44450" rIns="90488" bIns="44450">
            <a:noAutofit/>
          </a:bodyPr>
          <a:lstStyle/>
          <a:p>
            <a:pPr algn="l" eaLnBrk="0" hangingPunct="0"/>
            <a:r>
              <a:rPr lang="en-US" sz="2400" dirty="0">
                <a:latin typeface="+mj-lt"/>
                <a:cs typeface="+mj-lt"/>
              </a:rPr>
              <a:t>Why is it so? </a:t>
            </a:r>
            <a:endParaRPr lang="en-US" sz="2400" dirty="0">
              <a:latin typeface="+mj-lt"/>
              <a:cs typeface="+mj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3295" y="1471295"/>
            <a:ext cx="7439025" cy="2944495"/>
          </a:xfrm>
          <a:prstGeom prst="rect">
            <a:avLst/>
          </a:prstGeom>
        </p:spPr>
      </p:pic>
      <p:cxnSp>
        <p:nvCxnSpPr>
          <p:cNvPr id="7" name="直接箭头连接符 6"/>
          <p:cNvCxnSpPr/>
          <p:nvPr/>
        </p:nvCxnSpPr>
        <p:spPr>
          <a:xfrm>
            <a:off x="6852920" y="3691890"/>
            <a:ext cx="9525" cy="723900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8" name="直接箭头连接符 7"/>
          <p:cNvCxnSpPr/>
          <p:nvPr/>
        </p:nvCxnSpPr>
        <p:spPr>
          <a:xfrm flipH="1" flipV="1">
            <a:off x="9669145" y="3210560"/>
            <a:ext cx="3175" cy="669925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sp>
        <p:nvSpPr>
          <p:cNvPr id="262" name="文本框 261"/>
          <p:cNvSpPr txBox="1"/>
          <p:nvPr/>
        </p:nvSpPr>
        <p:spPr>
          <a:xfrm>
            <a:off x="2009140" y="4807585"/>
            <a:ext cx="29337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+mj-lt"/>
                <a:cs typeface="+mj-lt"/>
              </a:rPr>
              <a:t>y: class label</a:t>
            </a:r>
            <a:endParaRPr lang="en-US" altLang="zh-CN">
              <a:latin typeface="+mj-lt"/>
              <a:cs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3" name="文本框 262"/>
              <p:cNvSpPr txBox="1"/>
              <p:nvPr/>
            </p:nvSpPr>
            <p:spPr>
              <a:xfrm>
                <a:off x="2009140" y="5333365"/>
                <a:ext cx="4419600" cy="398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latin typeface="+mj-lt"/>
                    <a:cs typeface="+mj-lt"/>
                  </a:rPr>
                  <a:t>z: 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𝒛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>
                    <a:latin typeface="+mj-lt"/>
                    <a:cs typeface="+mj-lt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𝒛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>
                    <a:latin typeface="+mj-lt"/>
                    <a:cs typeface="+mj-lt"/>
                  </a:rPr>
                  <a:t>, ...,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𝒛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altLang="zh-CN">
                    <a:latin typeface="+mj-lt"/>
                    <a:cs typeface="+mj-lt"/>
                  </a:rPr>
                  <a:t>], model’s output logits</a:t>
                </a:r>
                <a:endParaRPr lang="en-US" altLang="zh-CN">
                  <a:latin typeface="+mj-lt"/>
                  <a:cs typeface="+mj-lt"/>
                </a:endParaRPr>
              </a:p>
            </p:txBody>
          </p:sp>
        </mc:Choice>
        <mc:Fallback>
          <p:sp>
            <p:nvSpPr>
              <p:cNvPr id="263" name="文本框 2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9140" y="5333365"/>
                <a:ext cx="4419600" cy="39878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104140" y="88900"/>
            <a:ext cx="10046970" cy="9906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square" lIns="90488" tIns="44450" rIns="90488" bIns="44450">
            <a:noAutofit/>
          </a:bodyPr>
          <a:lstStyle/>
          <a:p>
            <a:pPr algn="ctr" eaLnBrk="0" hangingPunct="0"/>
            <a:endParaRPr lang="en-US" sz="2400" dirty="0">
              <a:latin typeface="+mj-lt"/>
              <a:cs typeface="+mj-lt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92405" y="88900"/>
            <a:ext cx="12265660" cy="77216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square" lIns="90488" tIns="44450" rIns="90488" bIns="44450">
            <a:noAutofit/>
          </a:bodyPr>
          <a:lstStyle/>
          <a:p>
            <a:pPr algn="l" eaLnBrk="0" hangingPunct="0"/>
            <a:r>
              <a:rPr lang="en-US" sz="2400" dirty="0">
                <a:latin typeface="+mj-lt"/>
                <a:cs typeface="+mj-lt"/>
              </a:rPr>
              <a:t>Why is it so? </a:t>
            </a:r>
            <a:endParaRPr lang="en-US" sz="2400" dirty="0">
              <a:latin typeface="+mj-lt"/>
              <a:cs typeface="+mj-lt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>
            <a:off x="6962775" y="1938655"/>
            <a:ext cx="9525" cy="723900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8" name="直接箭头连接符 7"/>
          <p:cNvCxnSpPr/>
          <p:nvPr/>
        </p:nvCxnSpPr>
        <p:spPr>
          <a:xfrm flipH="1" flipV="1">
            <a:off x="6959600" y="861060"/>
            <a:ext cx="3175" cy="669925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sp>
        <p:nvSpPr>
          <p:cNvPr id="9" name="文本框 8"/>
          <p:cNvSpPr txBox="1"/>
          <p:nvPr/>
        </p:nvSpPr>
        <p:spPr>
          <a:xfrm>
            <a:off x="885825" y="3967480"/>
            <a:ext cx="101981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+mj-lt"/>
                <a:cs typeface="+mj-lt"/>
                <a:sym typeface="+mn-ea"/>
              </a:rPr>
              <a:t>Class A</a:t>
            </a:r>
            <a:endParaRPr lang="en-US" altLang="zh-CN">
              <a:latin typeface="+mj-lt"/>
              <a:cs typeface="+mj-lt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85825" y="5316220"/>
            <a:ext cx="101981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+mj-lt"/>
                <a:cs typeface="+mj-lt"/>
                <a:sym typeface="+mn-ea"/>
              </a:rPr>
              <a:t>Class B</a:t>
            </a:r>
            <a:endParaRPr lang="en-US" altLang="zh-CN">
              <a:latin typeface="+mj-lt"/>
              <a:cs typeface="+mj-lt"/>
              <a:sym typeface="+mn-ea"/>
            </a:endParaRPr>
          </a:p>
        </p:txBody>
      </p:sp>
      <p:sp>
        <p:nvSpPr>
          <p:cNvPr id="12" name="右箭头 11"/>
          <p:cNvSpPr/>
          <p:nvPr/>
        </p:nvSpPr>
        <p:spPr>
          <a:xfrm>
            <a:off x="2157095" y="4052570"/>
            <a:ext cx="9458325" cy="228600"/>
          </a:xfrm>
          <a:prstGeom prst="rightArrow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右箭头 14"/>
          <p:cNvSpPr/>
          <p:nvPr/>
        </p:nvSpPr>
        <p:spPr>
          <a:xfrm>
            <a:off x="2157095" y="5401310"/>
            <a:ext cx="9458325" cy="228600"/>
          </a:xfrm>
          <a:prstGeom prst="rightArrow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5127625" y="3305175"/>
            <a:ext cx="0" cy="2857500"/>
          </a:xfrm>
          <a:prstGeom prst="line">
            <a:avLst/>
          </a:prstGeom>
          <a:solidFill>
            <a:schemeClr val="bg1"/>
          </a:solidFill>
          <a:ln w="28575" cap="flat" cmpd="sng" algn="ctr">
            <a:solidFill>
              <a:schemeClr val="accent1">
                <a:shade val="50000"/>
              </a:schemeClr>
            </a:solidFill>
            <a:prstDash val="sysDash"/>
            <a:round/>
            <a:headEnd type="none" w="med" len="med"/>
            <a:tailEnd type="none" w="med" len="med"/>
          </a:ln>
        </p:spPr>
      </p:cxnSp>
      <p:cxnSp>
        <p:nvCxnSpPr>
          <p:cNvPr id="18" name="直接连接符 17"/>
          <p:cNvCxnSpPr/>
          <p:nvPr/>
        </p:nvCxnSpPr>
        <p:spPr>
          <a:xfrm>
            <a:off x="8189595" y="3276600"/>
            <a:ext cx="0" cy="2857500"/>
          </a:xfrm>
          <a:prstGeom prst="line">
            <a:avLst/>
          </a:prstGeom>
          <a:solidFill>
            <a:schemeClr val="bg1"/>
          </a:solidFill>
          <a:ln w="28575" cap="flat" cmpd="sng" algn="ctr">
            <a:solidFill>
              <a:schemeClr val="accent1">
                <a:shade val="50000"/>
              </a:schemeClr>
            </a:solidFill>
            <a:prstDash val="sysDash"/>
            <a:round/>
            <a:headEnd type="none" w="med" len="med"/>
            <a:tailEnd type="none" w="med" len="med"/>
          </a:ln>
        </p:spPr>
      </p:cxnSp>
      <p:cxnSp>
        <p:nvCxnSpPr>
          <p:cNvPr id="20" name="直接箭头连接符 19"/>
          <p:cNvCxnSpPr/>
          <p:nvPr/>
        </p:nvCxnSpPr>
        <p:spPr>
          <a:xfrm flipH="1" flipV="1">
            <a:off x="2338070" y="3761105"/>
            <a:ext cx="3175" cy="669925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1" name="直接箭头连接符 20"/>
          <p:cNvCxnSpPr/>
          <p:nvPr/>
        </p:nvCxnSpPr>
        <p:spPr>
          <a:xfrm flipH="1" flipV="1">
            <a:off x="2566670" y="3761105"/>
            <a:ext cx="3175" cy="669925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2" name="直接箭头连接符 21"/>
          <p:cNvCxnSpPr/>
          <p:nvPr/>
        </p:nvCxnSpPr>
        <p:spPr>
          <a:xfrm flipH="1" flipV="1">
            <a:off x="2773680" y="3761105"/>
            <a:ext cx="3175" cy="669925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3" name="直接箭头连接符 22"/>
          <p:cNvCxnSpPr/>
          <p:nvPr/>
        </p:nvCxnSpPr>
        <p:spPr>
          <a:xfrm>
            <a:off x="2447925" y="4129405"/>
            <a:ext cx="4445" cy="218440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4" name="直接箭头连接符 23"/>
          <p:cNvCxnSpPr/>
          <p:nvPr/>
        </p:nvCxnSpPr>
        <p:spPr>
          <a:xfrm>
            <a:off x="2669540" y="4129405"/>
            <a:ext cx="4445" cy="218440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30" name="直接箭头连接符 29"/>
          <p:cNvCxnSpPr/>
          <p:nvPr/>
        </p:nvCxnSpPr>
        <p:spPr>
          <a:xfrm>
            <a:off x="2876550" y="4129405"/>
            <a:ext cx="4445" cy="218440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31" name="直接箭头连接符 30"/>
          <p:cNvCxnSpPr/>
          <p:nvPr/>
        </p:nvCxnSpPr>
        <p:spPr>
          <a:xfrm flipH="1" flipV="1">
            <a:off x="3006090" y="3761105"/>
            <a:ext cx="3175" cy="669925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32" name="直接箭头连接符 31"/>
          <p:cNvCxnSpPr/>
          <p:nvPr/>
        </p:nvCxnSpPr>
        <p:spPr>
          <a:xfrm flipH="1" flipV="1">
            <a:off x="3234690" y="3761105"/>
            <a:ext cx="3175" cy="669925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33" name="直接箭头连接符 32"/>
          <p:cNvCxnSpPr/>
          <p:nvPr/>
        </p:nvCxnSpPr>
        <p:spPr>
          <a:xfrm flipH="1" flipV="1">
            <a:off x="3441700" y="3761105"/>
            <a:ext cx="3175" cy="669925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34" name="直接箭头连接符 33"/>
          <p:cNvCxnSpPr/>
          <p:nvPr/>
        </p:nvCxnSpPr>
        <p:spPr>
          <a:xfrm>
            <a:off x="3115945" y="4129405"/>
            <a:ext cx="4445" cy="218440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35" name="直接箭头连接符 34"/>
          <p:cNvCxnSpPr/>
          <p:nvPr/>
        </p:nvCxnSpPr>
        <p:spPr>
          <a:xfrm>
            <a:off x="3337560" y="4129405"/>
            <a:ext cx="4445" cy="218440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36" name="直接箭头连接符 35"/>
          <p:cNvCxnSpPr/>
          <p:nvPr/>
        </p:nvCxnSpPr>
        <p:spPr>
          <a:xfrm>
            <a:off x="3544570" y="4129405"/>
            <a:ext cx="4445" cy="218440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61" name="直接箭头连接符 60"/>
          <p:cNvCxnSpPr/>
          <p:nvPr/>
        </p:nvCxnSpPr>
        <p:spPr>
          <a:xfrm flipH="1" flipV="1">
            <a:off x="3663950" y="3761105"/>
            <a:ext cx="3175" cy="669925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62" name="直接箭头连接符 61"/>
          <p:cNvCxnSpPr/>
          <p:nvPr/>
        </p:nvCxnSpPr>
        <p:spPr>
          <a:xfrm flipH="1" flipV="1">
            <a:off x="3892550" y="3761105"/>
            <a:ext cx="3175" cy="669925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63" name="直接箭头连接符 62"/>
          <p:cNvCxnSpPr/>
          <p:nvPr/>
        </p:nvCxnSpPr>
        <p:spPr>
          <a:xfrm flipH="1" flipV="1">
            <a:off x="4099560" y="3761105"/>
            <a:ext cx="3175" cy="669925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64" name="直接箭头连接符 63"/>
          <p:cNvCxnSpPr/>
          <p:nvPr/>
        </p:nvCxnSpPr>
        <p:spPr>
          <a:xfrm>
            <a:off x="3773805" y="4129405"/>
            <a:ext cx="4445" cy="218440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65" name="直接箭头连接符 64"/>
          <p:cNvCxnSpPr/>
          <p:nvPr/>
        </p:nvCxnSpPr>
        <p:spPr>
          <a:xfrm>
            <a:off x="3995420" y="4129405"/>
            <a:ext cx="4445" cy="218440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66" name="直接箭头连接符 65"/>
          <p:cNvCxnSpPr/>
          <p:nvPr/>
        </p:nvCxnSpPr>
        <p:spPr>
          <a:xfrm>
            <a:off x="4202430" y="4129405"/>
            <a:ext cx="4445" cy="218440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67" name="直接箭头连接符 66"/>
          <p:cNvCxnSpPr/>
          <p:nvPr/>
        </p:nvCxnSpPr>
        <p:spPr>
          <a:xfrm flipH="1" flipV="1">
            <a:off x="4325620" y="3761105"/>
            <a:ext cx="3175" cy="669925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68" name="直接箭头连接符 67"/>
          <p:cNvCxnSpPr/>
          <p:nvPr/>
        </p:nvCxnSpPr>
        <p:spPr>
          <a:xfrm flipH="1" flipV="1">
            <a:off x="4554220" y="3761105"/>
            <a:ext cx="3175" cy="669925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69" name="直接箭头连接符 68"/>
          <p:cNvCxnSpPr/>
          <p:nvPr/>
        </p:nvCxnSpPr>
        <p:spPr>
          <a:xfrm flipH="1" flipV="1">
            <a:off x="4761230" y="3761105"/>
            <a:ext cx="3175" cy="669925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70" name="直接箭头连接符 69"/>
          <p:cNvCxnSpPr/>
          <p:nvPr/>
        </p:nvCxnSpPr>
        <p:spPr>
          <a:xfrm>
            <a:off x="4435475" y="4129405"/>
            <a:ext cx="4445" cy="218440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71" name="直接箭头连接符 70"/>
          <p:cNvCxnSpPr/>
          <p:nvPr/>
        </p:nvCxnSpPr>
        <p:spPr>
          <a:xfrm>
            <a:off x="4657090" y="4129405"/>
            <a:ext cx="4445" cy="218440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72" name="直接箭头连接符 71"/>
          <p:cNvCxnSpPr/>
          <p:nvPr/>
        </p:nvCxnSpPr>
        <p:spPr>
          <a:xfrm>
            <a:off x="4864100" y="4129405"/>
            <a:ext cx="4445" cy="218440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73" name="直接箭头连接符 72"/>
          <p:cNvCxnSpPr/>
          <p:nvPr/>
        </p:nvCxnSpPr>
        <p:spPr>
          <a:xfrm flipH="1" flipV="1">
            <a:off x="5401945" y="5096510"/>
            <a:ext cx="3175" cy="669925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74" name="直接箭头连接符 73"/>
          <p:cNvCxnSpPr/>
          <p:nvPr/>
        </p:nvCxnSpPr>
        <p:spPr>
          <a:xfrm flipH="1" flipV="1">
            <a:off x="5630545" y="5096510"/>
            <a:ext cx="3175" cy="669925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75" name="直接箭头连接符 74"/>
          <p:cNvCxnSpPr/>
          <p:nvPr/>
        </p:nvCxnSpPr>
        <p:spPr>
          <a:xfrm flipH="1" flipV="1">
            <a:off x="5837555" y="5096510"/>
            <a:ext cx="3175" cy="669925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76" name="直接箭头连接符 75"/>
          <p:cNvCxnSpPr/>
          <p:nvPr/>
        </p:nvCxnSpPr>
        <p:spPr>
          <a:xfrm>
            <a:off x="5511800" y="5464810"/>
            <a:ext cx="4445" cy="218440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77" name="直接箭头连接符 76"/>
          <p:cNvCxnSpPr/>
          <p:nvPr/>
        </p:nvCxnSpPr>
        <p:spPr>
          <a:xfrm>
            <a:off x="5733415" y="5464810"/>
            <a:ext cx="4445" cy="218440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78" name="直接箭头连接符 77"/>
          <p:cNvCxnSpPr/>
          <p:nvPr/>
        </p:nvCxnSpPr>
        <p:spPr>
          <a:xfrm>
            <a:off x="5940425" y="5464810"/>
            <a:ext cx="4445" cy="218440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79" name="直接箭头连接符 78"/>
          <p:cNvCxnSpPr/>
          <p:nvPr/>
        </p:nvCxnSpPr>
        <p:spPr>
          <a:xfrm flipH="1" flipV="1">
            <a:off x="6069965" y="5096510"/>
            <a:ext cx="3175" cy="669925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80" name="直接箭头连接符 79"/>
          <p:cNvCxnSpPr/>
          <p:nvPr/>
        </p:nvCxnSpPr>
        <p:spPr>
          <a:xfrm flipH="1" flipV="1">
            <a:off x="6298565" y="5096510"/>
            <a:ext cx="3175" cy="669925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81" name="直接箭头连接符 80"/>
          <p:cNvCxnSpPr/>
          <p:nvPr/>
        </p:nvCxnSpPr>
        <p:spPr>
          <a:xfrm flipH="1" flipV="1">
            <a:off x="6505575" y="5096510"/>
            <a:ext cx="3175" cy="669925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82" name="直接箭头连接符 81"/>
          <p:cNvCxnSpPr/>
          <p:nvPr/>
        </p:nvCxnSpPr>
        <p:spPr>
          <a:xfrm>
            <a:off x="6179820" y="5464810"/>
            <a:ext cx="4445" cy="218440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83" name="直接箭头连接符 82"/>
          <p:cNvCxnSpPr/>
          <p:nvPr/>
        </p:nvCxnSpPr>
        <p:spPr>
          <a:xfrm>
            <a:off x="6401435" y="5464810"/>
            <a:ext cx="4445" cy="218440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84" name="直接箭头连接符 83"/>
          <p:cNvCxnSpPr/>
          <p:nvPr/>
        </p:nvCxnSpPr>
        <p:spPr>
          <a:xfrm>
            <a:off x="6608445" y="5464810"/>
            <a:ext cx="4445" cy="218440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85" name="直接箭头连接符 84"/>
          <p:cNvCxnSpPr/>
          <p:nvPr/>
        </p:nvCxnSpPr>
        <p:spPr>
          <a:xfrm flipH="1" flipV="1">
            <a:off x="6727825" y="5096510"/>
            <a:ext cx="3175" cy="669925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86" name="直接箭头连接符 85"/>
          <p:cNvCxnSpPr/>
          <p:nvPr/>
        </p:nvCxnSpPr>
        <p:spPr>
          <a:xfrm flipH="1" flipV="1">
            <a:off x="6956425" y="5096510"/>
            <a:ext cx="3175" cy="669925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87" name="直接箭头连接符 86"/>
          <p:cNvCxnSpPr/>
          <p:nvPr/>
        </p:nvCxnSpPr>
        <p:spPr>
          <a:xfrm flipH="1" flipV="1">
            <a:off x="7163435" y="5096510"/>
            <a:ext cx="3175" cy="669925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88" name="直接箭头连接符 87"/>
          <p:cNvCxnSpPr/>
          <p:nvPr/>
        </p:nvCxnSpPr>
        <p:spPr>
          <a:xfrm>
            <a:off x="6837680" y="5464810"/>
            <a:ext cx="4445" cy="218440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89" name="直接箭头连接符 88"/>
          <p:cNvCxnSpPr/>
          <p:nvPr/>
        </p:nvCxnSpPr>
        <p:spPr>
          <a:xfrm>
            <a:off x="7059295" y="5464810"/>
            <a:ext cx="4445" cy="218440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90" name="直接箭头连接符 89"/>
          <p:cNvCxnSpPr/>
          <p:nvPr/>
        </p:nvCxnSpPr>
        <p:spPr>
          <a:xfrm>
            <a:off x="7266305" y="5464810"/>
            <a:ext cx="4445" cy="218440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91" name="直接箭头连接符 90"/>
          <p:cNvCxnSpPr/>
          <p:nvPr/>
        </p:nvCxnSpPr>
        <p:spPr>
          <a:xfrm flipH="1" flipV="1">
            <a:off x="7389495" y="5096510"/>
            <a:ext cx="3175" cy="669925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92" name="直接箭头连接符 91"/>
          <p:cNvCxnSpPr/>
          <p:nvPr/>
        </p:nvCxnSpPr>
        <p:spPr>
          <a:xfrm flipH="1" flipV="1">
            <a:off x="7618095" y="5096510"/>
            <a:ext cx="3175" cy="669925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93" name="直接箭头连接符 92"/>
          <p:cNvCxnSpPr/>
          <p:nvPr/>
        </p:nvCxnSpPr>
        <p:spPr>
          <a:xfrm flipH="1" flipV="1">
            <a:off x="7825105" y="5096510"/>
            <a:ext cx="3175" cy="669925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94" name="直接箭头连接符 93"/>
          <p:cNvCxnSpPr/>
          <p:nvPr/>
        </p:nvCxnSpPr>
        <p:spPr>
          <a:xfrm>
            <a:off x="7499350" y="5464810"/>
            <a:ext cx="4445" cy="218440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95" name="直接箭头连接符 94"/>
          <p:cNvCxnSpPr/>
          <p:nvPr/>
        </p:nvCxnSpPr>
        <p:spPr>
          <a:xfrm>
            <a:off x="7720965" y="5464810"/>
            <a:ext cx="4445" cy="218440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96" name="直接箭头连接符 95"/>
          <p:cNvCxnSpPr/>
          <p:nvPr/>
        </p:nvCxnSpPr>
        <p:spPr>
          <a:xfrm>
            <a:off x="7927975" y="5464810"/>
            <a:ext cx="4445" cy="218440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169" name="直接箭头连接符 168"/>
          <p:cNvCxnSpPr/>
          <p:nvPr/>
        </p:nvCxnSpPr>
        <p:spPr>
          <a:xfrm>
            <a:off x="5398770" y="3761105"/>
            <a:ext cx="9525" cy="723900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170" name="直接箭头连接符 169"/>
          <p:cNvCxnSpPr/>
          <p:nvPr/>
        </p:nvCxnSpPr>
        <p:spPr>
          <a:xfrm flipH="1" flipV="1">
            <a:off x="5481320" y="3966845"/>
            <a:ext cx="3175" cy="254635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171" name="直接箭头连接符 170"/>
          <p:cNvCxnSpPr/>
          <p:nvPr/>
        </p:nvCxnSpPr>
        <p:spPr>
          <a:xfrm>
            <a:off x="5611495" y="3761105"/>
            <a:ext cx="9525" cy="723900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172" name="直接箭头连接符 171"/>
          <p:cNvCxnSpPr/>
          <p:nvPr/>
        </p:nvCxnSpPr>
        <p:spPr>
          <a:xfrm flipH="1" flipV="1">
            <a:off x="5694045" y="3966845"/>
            <a:ext cx="3175" cy="254635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173" name="直接箭头连接符 172"/>
          <p:cNvCxnSpPr/>
          <p:nvPr/>
        </p:nvCxnSpPr>
        <p:spPr>
          <a:xfrm>
            <a:off x="5808345" y="3761105"/>
            <a:ext cx="9525" cy="723900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174" name="直接箭头连接符 173"/>
          <p:cNvCxnSpPr/>
          <p:nvPr/>
        </p:nvCxnSpPr>
        <p:spPr>
          <a:xfrm flipH="1" flipV="1">
            <a:off x="5909945" y="3966845"/>
            <a:ext cx="3175" cy="254635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175" name="直接箭头连接符 174"/>
          <p:cNvCxnSpPr/>
          <p:nvPr/>
        </p:nvCxnSpPr>
        <p:spPr>
          <a:xfrm>
            <a:off x="6021070" y="3761105"/>
            <a:ext cx="9525" cy="723900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176" name="直接箭头连接符 175"/>
          <p:cNvCxnSpPr/>
          <p:nvPr/>
        </p:nvCxnSpPr>
        <p:spPr>
          <a:xfrm flipH="1" flipV="1">
            <a:off x="6113145" y="3966845"/>
            <a:ext cx="3175" cy="254635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189" name="直接箭头连接符 188"/>
          <p:cNvCxnSpPr/>
          <p:nvPr/>
        </p:nvCxnSpPr>
        <p:spPr>
          <a:xfrm>
            <a:off x="6230620" y="3764280"/>
            <a:ext cx="9525" cy="723900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190" name="直接箭头连接符 189"/>
          <p:cNvCxnSpPr/>
          <p:nvPr/>
        </p:nvCxnSpPr>
        <p:spPr>
          <a:xfrm flipH="1" flipV="1">
            <a:off x="6313170" y="3970020"/>
            <a:ext cx="3175" cy="254635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191" name="直接箭头连接符 190"/>
          <p:cNvCxnSpPr/>
          <p:nvPr/>
        </p:nvCxnSpPr>
        <p:spPr>
          <a:xfrm>
            <a:off x="6443345" y="3764280"/>
            <a:ext cx="9525" cy="723900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192" name="直接箭头连接符 191"/>
          <p:cNvCxnSpPr/>
          <p:nvPr/>
        </p:nvCxnSpPr>
        <p:spPr>
          <a:xfrm flipH="1" flipV="1">
            <a:off x="6525895" y="3970020"/>
            <a:ext cx="3175" cy="254635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193" name="直接箭头连接符 192"/>
          <p:cNvCxnSpPr/>
          <p:nvPr/>
        </p:nvCxnSpPr>
        <p:spPr>
          <a:xfrm>
            <a:off x="6640195" y="3764280"/>
            <a:ext cx="9525" cy="723900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194" name="直接箭头连接符 193"/>
          <p:cNvCxnSpPr/>
          <p:nvPr/>
        </p:nvCxnSpPr>
        <p:spPr>
          <a:xfrm flipH="1" flipV="1">
            <a:off x="6741795" y="3970020"/>
            <a:ext cx="3175" cy="254635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195" name="直接箭头连接符 194"/>
          <p:cNvCxnSpPr/>
          <p:nvPr/>
        </p:nvCxnSpPr>
        <p:spPr>
          <a:xfrm>
            <a:off x="6852920" y="3764280"/>
            <a:ext cx="9525" cy="723900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196" name="直接箭头连接符 195"/>
          <p:cNvCxnSpPr/>
          <p:nvPr/>
        </p:nvCxnSpPr>
        <p:spPr>
          <a:xfrm flipH="1" flipV="1">
            <a:off x="6944995" y="3970020"/>
            <a:ext cx="3175" cy="254635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197" name="直接箭头连接符 196"/>
          <p:cNvCxnSpPr/>
          <p:nvPr/>
        </p:nvCxnSpPr>
        <p:spPr>
          <a:xfrm>
            <a:off x="7062470" y="3761105"/>
            <a:ext cx="9525" cy="723900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198" name="直接箭头连接符 197"/>
          <p:cNvCxnSpPr/>
          <p:nvPr/>
        </p:nvCxnSpPr>
        <p:spPr>
          <a:xfrm flipH="1" flipV="1">
            <a:off x="7145020" y="3966845"/>
            <a:ext cx="3175" cy="254635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199" name="直接箭头连接符 198"/>
          <p:cNvCxnSpPr/>
          <p:nvPr/>
        </p:nvCxnSpPr>
        <p:spPr>
          <a:xfrm>
            <a:off x="7275195" y="3761105"/>
            <a:ext cx="9525" cy="723900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00" name="直接箭头连接符 199"/>
          <p:cNvCxnSpPr/>
          <p:nvPr/>
        </p:nvCxnSpPr>
        <p:spPr>
          <a:xfrm flipH="1" flipV="1">
            <a:off x="7357745" y="3966845"/>
            <a:ext cx="3175" cy="254635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01" name="直接箭头连接符 200"/>
          <p:cNvCxnSpPr/>
          <p:nvPr/>
        </p:nvCxnSpPr>
        <p:spPr>
          <a:xfrm>
            <a:off x="7472045" y="3761105"/>
            <a:ext cx="9525" cy="723900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02" name="直接箭头连接符 201"/>
          <p:cNvCxnSpPr/>
          <p:nvPr/>
        </p:nvCxnSpPr>
        <p:spPr>
          <a:xfrm flipH="1" flipV="1">
            <a:off x="7573645" y="3966845"/>
            <a:ext cx="3175" cy="254635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03" name="直接箭头连接符 202"/>
          <p:cNvCxnSpPr/>
          <p:nvPr/>
        </p:nvCxnSpPr>
        <p:spPr>
          <a:xfrm>
            <a:off x="7684770" y="3761105"/>
            <a:ext cx="9525" cy="723900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04" name="直接箭头连接符 203"/>
          <p:cNvCxnSpPr/>
          <p:nvPr/>
        </p:nvCxnSpPr>
        <p:spPr>
          <a:xfrm flipH="1" flipV="1">
            <a:off x="7776845" y="3966845"/>
            <a:ext cx="3175" cy="254635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05" name="直接箭头连接符 204"/>
          <p:cNvCxnSpPr/>
          <p:nvPr/>
        </p:nvCxnSpPr>
        <p:spPr>
          <a:xfrm>
            <a:off x="7897495" y="3761105"/>
            <a:ext cx="9525" cy="723900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06" name="直接箭头连接符 205"/>
          <p:cNvCxnSpPr/>
          <p:nvPr/>
        </p:nvCxnSpPr>
        <p:spPr>
          <a:xfrm flipH="1" flipV="1">
            <a:off x="7989570" y="3966845"/>
            <a:ext cx="3175" cy="254635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07" name="直接箭头连接符 206"/>
          <p:cNvCxnSpPr/>
          <p:nvPr/>
        </p:nvCxnSpPr>
        <p:spPr>
          <a:xfrm>
            <a:off x="8475345" y="3764280"/>
            <a:ext cx="9525" cy="723900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08" name="直接箭头连接符 207"/>
          <p:cNvCxnSpPr/>
          <p:nvPr/>
        </p:nvCxnSpPr>
        <p:spPr>
          <a:xfrm flipH="1" flipV="1">
            <a:off x="8557895" y="3970020"/>
            <a:ext cx="3175" cy="254635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09" name="直接箭头连接符 208"/>
          <p:cNvCxnSpPr/>
          <p:nvPr/>
        </p:nvCxnSpPr>
        <p:spPr>
          <a:xfrm>
            <a:off x="8688070" y="3764280"/>
            <a:ext cx="9525" cy="723900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10" name="直接箭头连接符 209"/>
          <p:cNvCxnSpPr/>
          <p:nvPr/>
        </p:nvCxnSpPr>
        <p:spPr>
          <a:xfrm flipH="1" flipV="1">
            <a:off x="8770620" y="3970020"/>
            <a:ext cx="3175" cy="254635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11" name="直接箭头连接符 210"/>
          <p:cNvCxnSpPr/>
          <p:nvPr/>
        </p:nvCxnSpPr>
        <p:spPr>
          <a:xfrm>
            <a:off x="8884920" y="3764280"/>
            <a:ext cx="9525" cy="723900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12" name="直接箭头连接符 211"/>
          <p:cNvCxnSpPr/>
          <p:nvPr/>
        </p:nvCxnSpPr>
        <p:spPr>
          <a:xfrm flipH="1" flipV="1">
            <a:off x="8986520" y="3970020"/>
            <a:ext cx="3175" cy="254635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13" name="直接箭头连接符 212"/>
          <p:cNvCxnSpPr/>
          <p:nvPr/>
        </p:nvCxnSpPr>
        <p:spPr>
          <a:xfrm>
            <a:off x="9097645" y="3764280"/>
            <a:ext cx="9525" cy="723900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14" name="直接箭头连接符 213"/>
          <p:cNvCxnSpPr/>
          <p:nvPr/>
        </p:nvCxnSpPr>
        <p:spPr>
          <a:xfrm flipH="1" flipV="1">
            <a:off x="9189720" y="3970020"/>
            <a:ext cx="3175" cy="254635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15" name="直接箭头连接符 214"/>
          <p:cNvCxnSpPr/>
          <p:nvPr/>
        </p:nvCxnSpPr>
        <p:spPr>
          <a:xfrm>
            <a:off x="9307195" y="3767455"/>
            <a:ext cx="9525" cy="723900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16" name="直接箭头连接符 215"/>
          <p:cNvCxnSpPr/>
          <p:nvPr/>
        </p:nvCxnSpPr>
        <p:spPr>
          <a:xfrm flipH="1" flipV="1">
            <a:off x="9389745" y="3973195"/>
            <a:ext cx="3175" cy="254635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17" name="直接箭头连接符 216"/>
          <p:cNvCxnSpPr/>
          <p:nvPr/>
        </p:nvCxnSpPr>
        <p:spPr>
          <a:xfrm>
            <a:off x="9519920" y="3767455"/>
            <a:ext cx="9525" cy="723900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18" name="直接箭头连接符 217"/>
          <p:cNvCxnSpPr/>
          <p:nvPr/>
        </p:nvCxnSpPr>
        <p:spPr>
          <a:xfrm flipH="1" flipV="1">
            <a:off x="9602470" y="3973195"/>
            <a:ext cx="3175" cy="254635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19" name="直接箭头连接符 218"/>
          <p:cNvCxnSpPr/>
          <p:nvPr/>
        </p:nvCxnSpPr>
        <p:spPr>
          <a:xfrm>
            <a:off x="9716770" y="3767455"/>
            <a:ext cx="9525" cy="723900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20" name="直接箭头连接符 219"/>
          <p:cNvCxnSpPr/>
          <p:nvPr/>
        </p:nvCxnSpPr>
        <p:spPr>
          <a:xfrm flipH="1" flipV="1">
            <a:off x="9818370" y="3973195"/>
            <a:ext cx="3175" cy="254635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21" name="直接箭头连接符 220"/>
          <p:cNvCxnSpPr/>
          <p:nvPr/>
        </p:nvCxnSpPr>
        <p:spPr>
          <a:xfrm>
            <a:off x="9929495" y="3767455"/>
            <a:ext cx="9525" cy="723900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22" name="直接箭头连接符 221"/>
          <p:cNvCxnSpPr/>
          <p:nvPr/>
        </p:nvCxnSpPr>
        <p:spPr>
          <a:xfrm flipH="1" flipV="1">
            <a:off x="10021570" y="3973195"/>
            <a:ext cx="3175" cy="254635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23" name="直接箭头连接符 222"/>
          <p:cNvCxnSpPr/>
          <p:nvPr/>
        </p:nvCxnSpPr>
        <p:spPr>
          <a:xfrm>
            <a:off x="10139045" y="3764280"/>
            <a:ext cx="9525" cy="723900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24" name="直接箭头连接符 223"/>
          <p:cNvCxnSpPr/>
          <p:nvPr/>
        </p:nvCxnSpPr>
        <p:spPr>
          <a:xfrm flipH="1" flipV="1">
            <a:off x="10221595" y="3970020"/>
            <a:ext cx="3175" cy="254635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25" name="直接箭头连接符 224"/>
          <p:cNvCxnSpPr/>
          <p:nvPr/>
        </p:nvCxnSpPr>
        <p:spPr>
          <a:xfrm>
            <a:off x="10351770" y="3764280"/>
            <a:ext cx="9525" cy="723900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26" name="直接箭头连接符 225"/>
          <p:cNvCxnSpPr/>
          <p:nvPr/>
        </p:nvCxnSpPr>
        <p:spPr>
          <a:xfrm flipH="1" flipV="1">
            <a:off x="10434320" y="3970020"/>
            <a:ext cx="3175" cy="254635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27" name="直接箭头连接符 226"/>
          <p:cNvCxnSpPr/>
          <p:nvPr/>
        </p:nvCxnSpPr>
        <p:spPr>
          <a:xfrm>
            <a:off x="10548620" y="3764280"/>
            <a:ext cx="9525" cy="723900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28" name="直接箭头连接符 227"/>
          <p:cNvCxnSpPr/>
          <p:nvPr/>
        </p:nvCxnSpPr>
        <p:spPr>
          <a:xfrm flipH="1" flipV="1">
            <a:off x="10650220" y="3970020"/>
            <a:ext cx="3175" cy="254635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29" name="直接箭头连接符 228"/>
          <p:cNvCxnSpPr/>
          <p:nvPr/>
        </p:nvCxnSpPr>
        <p:spPr>
          <a:xfrm>
            <a:off x="10761345" y="3764280"/>
            <a:ext cx="9525" cy="723900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30" name="直接箭头连接符 229"/>
          <p:cNvCxnSpPr/>
          <p:nvPr/>
        </p:nvCxnSpPr>
        <p:spPr>
          <a:xfrm flipH="1" flipV="1">
            <a:off x="10853420" y="3970020"/>
            <a:ext cx="3175" cy="254635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31" name="直接箭头连接符 230"/>
          <p:cNvCxnSpPr/>
          <p:nvPr/>
        </p:nvCxnSpPr>
        <p:spPr>
          <a:xfrm>
            <a:off x="10974070" y="3764280"/>
            <a:ext cx="9525" cy="723900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32" name="直接箭头连接符 231"/>
          <p:cNvCxnSpPr/>
          <p:nvPr/>
        </p:nvCxnSpPr>
        <p:spPr>
          <a:xfrm flipH="1" flipV="1">
            <a:off x="11066145" y="3970020"/>
            <a:ext cx="3175" cy="254635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33" name="直接箭头连接符 232"/>
          <p:cNvCxnSpPr/>
          <p:nvPr/>
        </p:nvCxnSpPr>
        <p:spPr>
          <a:xfrm>
            <a:off x="8465820" y="5096510"/>
            <a:ext cx="9525" cy="723900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34" name="直接箭头连接符 233"/>
          <p:cNvCxnSpPr/>
          <p:nvPr/>
        </p:nvCxnSpPr>
        <p:spPr>
          <a:xfrm flipH="1" flipV="1">
            <a:off x="8548370" y="5302250"/>
            <a:ext cx="3175" cy="254635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35" name="直接箭头连接符 234"/>
          <p:cNvCxnSpPr/>
          <p:nvPr/>
        </p:nvCxnSpPr>
        <p:spPr>
          <a:xfrm>
            <a:off x="8678545" y="5096510"/>
            <a:ext cx="9525" cy="723900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36" name="直接箭头连接符 235"/>
          <p:cNvCxnSpPr/>
          <p:nvPr/>
        </p:nvCxnSpPr>
        <p:spPr>
          <a:xfrm flipH="1" flipV="1">
            <a:off x="8761095" y="5302250"/>
            <a:ext cx="3175" cy="254635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37" name="直接箭头连接符 236"/>
          <p:cNvCxnSpPr/>
          <p:nvPr/>
        </p:nvCxnSpPr>
        <p:spPr>
          <a:xfrm>
            <a:off x="8875395" y="5096510"/>
            <a:ext cx="9525" cy="723900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38" name="直接箭头连接符 237"/>
          <p:cNvCxnSpPr/>
          <p:nvPr/>
        </p:nvCxnSpPr>
        <p:spPr>
          <a:xfrm flipH="1" flipV="1">
            <a:off x="8976995" y="5302250"/>
            <a:ext cx="3175" cy="254635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39" name="直接箭头连接符 238"/>
          <p:cNvCxnSpPr/>
          <p:nvPr/>
        </p:nvCxnSpPr>
        <p:spPr>
          <a:xfrm>
            <a:off x="9088120" y="5096510"/>
            <a:ext cx="9525" cy="723900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40" name="直接箭头连接符 239"/>
          <p:cNvCxnSpPr/>
          <p:nvPr/>
        </p:nvCxnSpPr>
        <p:spPr>
          <a:xfrm flipH="1" flipV="1">
            <a:off x="9180195" y="5302250"/>
            <a:ext cx="3175" cy="254635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41" name="直接箭头连接符 240"/>
          <p:cNvCxnSpPr/>
          <p:nvPr/>
        </p:nvCxnSpPr>
        <p:spPr>
          <a:xfrm>
            <a:off x="9297670" y="5099685"/>
            <a:ext cx="9525" cy="723900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42" name="直接箭头连接符 241"/>
          <p:cNvCxnSpPr/>
          <p:nvPr/>
        </p:nvCxnSpPr>
        <p:spPr>
          <a:xfrm flipH="1" flipV="1">
            <a:off x="9380220" y="5305425"/>
            <a:ext cx="3175" cy="254635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43" name="直接箭头连接符 242"/>
          <p:cNvCxnSpPr/>
          <p:nvPr/>
        </p:nvCxnSpPr>
        <p:spPr>
          <a:xfrm>
            <a:off x="9510395" y="5099685"/>
            <a:ext cx="9525" cy="723900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44" name="直接箭头连接符 243"/>
          <p:cNvCxnSpPr/>
          <p:nvPr/>
        </p:nvCxnSpPr>
        <p:spPr>
          <a:xfrm flipH="1" flipV="1">
            <a:off x="9592945" y="5305425"/>
            <a:ext cx="3175" cy="254635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45" name="直接箭头连接符 244"/>
          <p:cNvCxnSpPr/>
          <p:nvPr/>
        </p:nvCxnSpPr>
        <p:spPr>
          <a:xfrm>
            <a:off x="9707245" y="5099685"/>
            <a:ext cx="9525" cy="723900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46" name="直接箭头连接符 245"/>
          <p:cNvCxnSpPr/>
          <p:nvPr/>
        </p:nvCxnSpPr>
        <p:spPr>
          <a:xfrm flipH="1" flipV="1">
            <a:off x="9808845" y="5305425"/>
            <a:ext cx="3175" cy="254635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47" name="直接箭头连接符 246"/>
          <p:cNvCxnSpPr/>
          <p:nvPr/>
        </p:nvCxnSpPr>
        <p:spPr>
          <a:xfrm>
            <a:off x="9919970" y="5099685"/>
            <a:ext cx="9525" cy="723900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48" name="直接箭头连接符 247"/>
          <p:cNvCxnSpPr/>
          <p:nvPr/>
        </p:nvCxnSpPr>
        <p:spPr>
          <a:xfrm flipH="1" flipV="1">
            <a:off x="10012045" y="5305425"/>
            <a:ext cx="3175" cy="254635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49" name="直接箭头连接符 248"/>
          <p:cNvCxnSpPr/>
          <p:nvPr/>
        </p:nvCxnSpPr>
        <p:spPr>
          <a:xfrm>
            <a:off x="10129520" y="5096510"/>
            <a:ext cx="9525" cy="723900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50" name="直接箭头连接符 249"/>
          <p:cNvCxnSpPr/>
          <p:nvPr/>
        </p:nvCxnSpPr>
        <p:spPr>
          <a:xfrm flipH="1" flipV="1">
            <a:off x="10212070" y="5302250"/>
            <a:ext cx="3175" cy="254635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51" name="直接箭头连接符 250"/>
          <p:cNvCxnSpPr/>
          <p:nvPr/>
        </p:nvCxnSpPr>
        <p:spPr>
          <a:xfrm>
            <a:off x="10342245" y="5096510"/>
            <a:ext cx="9525" cy="723900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52" name="直接箭头连接符 251"/>
          <p:cNvCxnSpPr/>
          <p:nvPr/>
        </p:nvCxnSpPr>
        <p:spPr>
          <a:xfrm flipH="1" flipV="1">
            <a:off x="10424795" y="5302250"/>
            <a:ext cx="3175" cy="254635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53" name="直接箭头连接符 252"/>
          <p:cNvCxnSpPr/>
          <p:nvPr/>
        </p:nvCxnSpPr>
        <p:spPr>
          <a:xfrm>
            <a:off x="10539095" y="5096510"/>
            <a:ext cx="9525" cy="723900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54" name="直接箭头连接符 253"/>
          <p:cNvCxnSpPr/>
          <p:nvPr/>
        </p:nvCxnSpPr>
        <p:spPr>
          <a:xfrm flipH="1" flipV="1">
            <a:off x="10640695" y="5302250"/>
            <a:ext cx="3175" cy="254635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55" name="直接箭头连接符 254"/>
          <p:cNvCxnSpPr/>
          <p:nvPr/>
        </p:nvCxnSpPr>
        <p:spPr>
          <a:xfrm>
            <a:off x="10751820" y="5096510"/>
            <a:ext cx="9525" cy="723900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56" name="直接箭头连接符 255"/>
          <p:cNvCxnSpPr/>
          <p:nvPr/>
        </p:nvCxnSpPr>
        <p:spPr>
          <a:xfrm flipH="1" flipV="1">
            <a:off x="10843895" y="5302250"/>
            <a:ext cx="3175" cy="254635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57" name="直接箭头连接符 256"/>
          <p:cNvCxnSpPr/>
          <p:nvPr/>
        </p:nvCxnSpPr>
        <p:spPr>
          <a:xfrm>
            <a:off x="10964545" y="5096510"/>
            <a:ext cx="9525" cy="723900"/>
          </a:xfrm>
          <a:prstGeom prst="straightConnector1">
            <a:avLst/>
          </a:prstGeom>
          <a:solidFill>
            <a:schemeClr val="bg1"/>
          </a:solidFill>
          <a:ln w="41275" cap="rnd" cmpd="sng" algn="ctr">
            <a:solidFill>
              <a:srgbClr val="FF0000"/>
            </a:solidFill>
            <a:prstDash val="solid"/>
            <a:bevel/>
            <a:headEnd type="none" w="med" len="med"/>
            <a:tailEnd type="stealth" w="lg" len="lg"/>
          </a:ln>
        </p:spPr>
      </p:cxnSp>
      <p:cxnSp>
        <p:nvCxnSpPr>
          <p:cNvPr id="258" name="直接箭头连接符 257"/>
          <p:cNvCxnSpPr/>
          <p:nvPr/>
        </p:nvCxnSpPr>
        <p:spPr>
          <a:xfrm flipH="1" flipV="1">
            <a:off x="11056620" y="5302250"/>
            <a:ext cx="3175" cy="254635"/>
          </a:xfrm>
          <a:prstGeom prst="straightConnector1">
            <a:avLst/>
          </a:prstGeom>
          <a:solidFill>
            <a:schemeClr val="bg1"/>
          </a:solidFill>
          <a:ln w="22225" cap="rnd" cmpd="sng" algn="ctr">
            <a:solidFill>
              <a:schemeClr val="accent2"/>
            </a:solidFill>
            <a:prstDash val="solid"/>
            <a:bevel/>
            <a:headEnd type="none" w="med" len="med"/>
            <a:tailEnd type="stealth" w="lg" len="lg"/>
          </a:ln>
        </p:spPr>
      </p:cxnSp>
      <p:sp>
        <p:nvSpPr>
          <p:cNvPr id="259" name="文本框 258"/>
          <p:cNvSpPr txBox="1"/>
          <p:nvPr/>
        </p:nvSpPr>
        <p:spPr>
          <a:xfrm>
            <a:off x="3006090" y="5925185"/>
            <a:ext cx="99377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+mj-lt"/>
                <a:cs typeface="+mj-lt"/>
                <a:sym typeface="+mn-ea"/>
              </a:rPr>
              <a:t>Task 0</a:t>
            </a:r>
            <a:endParaRPr lang="en-US" altLang="zh-CN">
              <a:latin typeface="+mj-lt"/>
              <a:cs typeface="+mj-lt"/>
              <a:sym typeface="+mn-ea"/>
            </a:endParaRPr>
          </a:p>
        </p:txBody>
      </p:sp>
      <p:sp>
        <p:nvSpPr>
          <p:cNvPr id="260" name="文本框 259"/>
          <p:cNvSpPr txBox="1"/>
          <p:nvPr/>
        </p:nvSpPr>
        <p:spPr>
          <a:xfrm>
            <a:off x="6169660" y="5925185"/>
            <a:ext cx="99377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+mj-lt"/>
                <a:cs typeface="+mj-lt"/>
                <a:sym typeface="+mn-ea"/>
              </a:rPr>
              <a:t>Task 1</a:t>
            </a:r>
            <a:endParaRPr lang="en-US" altLang="zh-CN">
              <a:latin typeface="+mj-lt"/>
              <a:cs typeface="+mj-lt"/>
              <a:sym typeface="+mn-ea"/>
            </a:endParaRPr>
          </a:p>
        </p:txBody>
      </p:sp>
      <p:sp>
        <p:nvSpPr>
          <p:cNvPr id="261" name="文本框 260"/>
          <p:cNvSpPr txBox="1"/>
          <p:nvPr/>
        </p:nvSpPr>
        <p:spPr>
          <a:xfrm>
            <a:off x="9380220" y="5925185"/>
            <a:ext cx="99377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+mj-lt"/>
                <a:cs typeface="+mj-lt"/>
                <a:sym typeface="+mn-ea"/>
              </a:rPr>
              <a:t>Task 2</a:t>
            </a:r>
            <a:endParaRPr lang="en-US" altLang="zh-CN">
              <a:latin typeface="+mj-lt"/>
              <a:cs typeface="+mj-lt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786" t="1310" r="425" b="869"/>
          <a:stretch>
            <a:fillRect/>
          </a:stretch>
        </p:blipFill>
        <p:spPr>
          <a:xfrm>
            <a:off x="633095" y="582930"/>
            <a:ext cx="4231005" cy="272224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266305" y="996950"/>
            <a:ext cx="428688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chemeClr val="accent2"/>
                </a:solidFill>
                <a:latin typeface="+mj-lt"/>
                <a:cs typeface="+mj-lt"/>
                <a:sym typeface="+mn-ea"/>
              </a:rPr>
              <a:t>Positive</a:t>
            </a:r>
            <a:r>
              <a:rPr lang="en-US" altLang="zh-CN">
                <a:latin typeface="+mj-lt"/>
                <a:cs typeface="+mj-lt"/>
                <a:sym typeface="+mn-ea"/>
              </a:rPr>
              <a:t> Supervision (higher recall)</a:t>
            </a:r>
            <a:endParaRPr lang="en-US" altLang="zh-CN">
              <a:latin typeface="+mj-lt"/>
              <a:cs typeface="+mj-lt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270750" y="2101215"/>
            <a:ext cx="450659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FF0000"/>
                </a:solidFill>
                <a:latin typeface="+mj-lt"/>
                <a:cs typeface="+mj-lt"/>
                <a:sym typeface="+mn-ea"/>
              </a:rPr>
              <a:t>Negative</a:t>
            </a:r>
            <a:r>
              <a:rPr lang="en-US" altLang="zh-CN">
                <a:latin typeface="+mj-lt"/>
                <a:cs typeface="+mj-lt"/>
                <a:sym typeface="+mn-ea"/>
              </a:rPr>
              <a:t> Supervision </a:t>
            </a:r>
            <a:r>
              <a:rPr lang="en-US" altLang="zh-CN">
                <a:latin typeface="+mj-lt"/>
                <a:cs typeface="+mj-lt"/>
                <a:sym typeface="+mn-ea"/>
              </a:rPr>
              <a:t>(higher precision)</a:t>
            </a:r>
            <a:endParaRPr lang="en-US" altLang="zh-CN">
              <a:latin typeface="+mj-lt"/>
              <a:cs typeface="+mj-lt"/>
              <a:sym typeface="+mn-ea"/>
            </a:endParaRPr>
          </a:p>
          <a:p>
            <a:endParaRPr lang="en-US" altLang="zh-CN">
              <a:latin typeface="+mj-lt"/>
              <a:cs typeface="+mj-lt"/>
              <a:sym typeface="+mn-ea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104140" y="88900"/>
            <a:ext cx="10046970" cy="9906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square" lIns="90488" tIns="44450" rIns="90488" bIns="44450">
            <a:noAutofit/>
          </a:bodyPr>
          <a:lstStyle/>
          <a:p>
            <a:pPr algn="ctr" eaLnBrk="0" hangingPunct="0"/>
            <a:endParaRPr lang="en-US" sz="2400" dirty="0">
              <a:latin typeface="+mj-lt"/>
              <a:cs typeface="+mj-lt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92405" y="88900"/>
            <a:ext cx="12265660" cy="77216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square" lIns="90488" tIns="44450" rIns="90488" bIns="44450">
            <a:noAutofit/>
          </a:bodyPr>
          <a:lstStyle/>
          <a:p>
            <a:pPr algn="l" eaLnBrk="0" hangingPunct="0"/>
            <a:r>
              <a:rPr lang="en-US" sz="2400" dirty="0">
                <a:latin typeface="+mj-lt"/>
                <a:cs typeface="+mj-lt"/>
              </a:rPr>
              <a:t>Our Method: Temporal-Ajusted Loss(TAL)</a:t>
            </a:r>
            <a:r>
              <a:rPr lang="en-US" sz="2400" dirty="0">
                <a:latin typeface="+mj-lt"/>
                <a:cs typeface="+mj-lt"/>
              </a:rPr>
              <a:t> </a:t>
            </a:r>
            <a:endParaRPr lang="en-US" sz="2400" dirty="0">
              <a:latin typeface="+mj-lt"/>
              <a:cs typeface="+mj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2635" y="1175385"/>
            <a:ext cx="7972425" cy="1581785"/>
          </a:xfrm>
          <a:prstGeom prst="rect">
            <a:avLst/>
          </a:prstGeom>
        </p:spPr>
      </p:pic>
      <p:sp>
        <p:nvSpPr>
          <p:cNvPr id="28" name="文本框 27"/>
          <p:cNvSpPr txBox="1"/>
          <p:nvPr>
            <p:custDataLst>
              <p:tags r:id="rId2"/>
            </p:custDataLst>
          </p:nvPr>
        </p:nvSpPr>
        <p:spPr>
          <a:xfrm>
            <a:off x="1886585" y="2966720"/>
            <a:ext cx="60299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+mj-lt"/>
                <a:cs typeface="+mj-lt"/>
              </a:rPr>
              <a:t>Q: </a:t>
            </a:r>
            <a:r>
              <a:rPr lang="en-US" altLang="zh-CN" u="sng">
                <a:latin typeface="+mj-lt"/>
                <a:cs typeface="+mj-lt"/>
              </a:rPr>
              <a:t>Current</a:t>
            </a:r>
            <a:r>
              <a:rPr lang="en-US" altLang="zh-CN">
                <a:latin typeface="+mj-lt"/>
                <a:cs typeface="+mj-lt"/>
              </a:rPr>
              <a:t> </a:t>
            </a:r>
            <a:r>
              <a:rPr lang="en-US" altLang="zh-CN">
                <a:solidFill>
                  <a:schemeClr val="accent2"/>
                </a:solidFill>
                <a:latin typeface="+mj-lt"/>
                <a:cs typeface="+mj-lt"/>
              </a:rPr>
              <a:t>Positive</a:t>
            </a:r>
            <a:r>
              <a:rPr lang="en-US" altLang="zh-CN">
                <a:latin typeface="+mj-lt"/>
                <a:cs typeface="+mj-lt"/>
              </a:rPr>
              <a:t> Supervision Strength</a:t>
            </a:r>
            <a:endParaRPr lang="en-US" altLang="zh-CN"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1886585" y="3527425"/>
            <a:ext cx="76492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+mj-lt"/>
                <a:cs typeface="+mj-lt"/>
              </a:rPr>
              <a:t>w(Q): Sensitivity to </a:t>
            </a:r>
            <a:r>
              <a:rPr lang="en-US" altLang="zh-CN">
                <a:solidFill>
                  <a:srgbClr val="FF0000"/>
                </a:solidFill>
                <a:latin typeface="+mj-lt"/>
                <a:cs typeface="+mj-lt"/>
              </a:rPr>
              <a:t>Negative</a:t>
            </a:r>
            <a:r>
              <a:rPr lang="en-US" altLang="zh-CN">
                <a:latin typeface="+mj-lt"/>
                <a:cs typeface="+mj-lt"/>
              </a:rPr>
              <a:t> Supervision</a:t>
            </a:r>
            <a:endParaRPr lang="en-US" altLang="zh-CN"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28235" y="4239260"/>
            <a:ext cx="58102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+mj-lt"/>
                <a:cs typeface="+mj-lt"/>
                <a:sym typeface="+mn-ea"/>
              </a:rPr>
              <a:t>Q</a:t>
            </a:r>
            <a:r>
              <a:rPr lang="en-US" altLang="zh-CN">
                <a:cs typeface="Arial" panose="020B0604020202020204" pitchFamily="34" charset="0"/>
                <a:sym typeface="+mn-ea"/>
              </a:rPr>
              <a:t>↑</a:t>
            </a:r>
            <a:endParaRPr lang="en-US" altLang="zh-CN">
              <a:cs typeface="Arial" panose="020B0604020202020204" pitchFamily="34" charset="0"/>
              <a:sym typeface="+mn-ea"/>
            </a:endParaRPr>
          </a:p>
        </p:txBody>
      </p:sp>
      <p:sp>
        <p:nvSpPr>
          <p:cNvPr id="7" name="右箭头 6"/>
          <p:cNvSpPr/>
          <p:nvPr/>
        </p:nvSpPr>
        <p:spPr>
          <a:xfrm>
            <a:off x="5509260" y="4414520"/>
            <a:ext cx="419100" cy="142875"/>
          </a:xfrm>
          <a:prstGeom prst="rightArrow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64885" y="4239260"/>
            <a:ext cx="291338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+mj-lt"/>
                <a:cs typeface="+mj-lt"/>
                <a:sym typeface="+mn-ea"/>
              </a:rPr>
              <a:t>w(Q)</a:t>
            </a:r>
            <a:r>
              <a:rPr lang="en-US" altLang="zh-CN">
                <a:latin typeface="+mj-lt"/>
                <a:cs typeface="+mj-lt"/>
                <a:sym typeface="+mn-ea"/>
              </a:rPr>
              <a:t>↑   (Class B)</a:t>
            </a:r>
            <a:endParaRPr lang="en-US" altLang="zh-CN">
              <a:latin typeface="+mj-lt"/>
              <a:cs typeface="+mj-lt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18710" y="5090160"/>
            <a:ext cx="58102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+mj-lt"/>
                <a:cs typeface="+mj-lt"/>
                <a:sym typeface="+mn-ea"/>
              </a:rPr>
              <a:t>Q</a:t>
            </a:r>
            <a:r>
              <a:rPr lang="en-US" altLang="zh-CN">
                <a:cs typeface="Arial" panose="020B0604020202020204" pitchFamily="34" charset="0"/>
                <a:sym typeface="+mn-ea"/>
              </a:rPr>
              <a:t>↓</a:t>
            </a:r>
            <a:endParaRPr lang="en-US" altLang="zh-CN">
              <a:cs typeface="Arial" panose="020B0604020202020204" pitchFamily="34" charset="0"/>
              <a:sym typeface="+mn-ea"/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5499735" y="5265420"/>
            <a:ext cx="419100" cy="142875"/>
          </a:xfrm>
          <a:prstGeom prst="rightArrow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064885" y="5090160"/>
            <a:ext cx="291338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+mj-lt"/>
                <a:cs typeface="+mj-lt"/>
                <a:sym typeface="+mn-ea"/>
              </a:rPr>
              <a:t>w(Q)</a:t>
            </a:r>
            <a:r>
              <a:rPr lang="en-US" altLang="zh-CN">
                <a:cs typeface="Arial" panose="020B0604020202020204" pitchFamily="34" charset="0"/>
                <a:sym typeface="+mn-ea"/>
              </a:rPr>
              <a:t>↓</a:t>
            </a:r>
            <a:r>
              <a:rPr lang="en-US" altLang="zh-CN">
                <a:latin typeface="+mj-lt"/>
                <a:cs typeface="+mj-lt"/>
                <a:sym typeface="+mn-ea"/>
              </a:rPr>
              <a:t>   (Class A)</a:t>
            </a:r>
            <a:endParaRPr lang="en-US" altLang="zh-CN">
              <a:latin typeface="+mj-lt"/>
              <a:cs typeface="+mj-lt"/>
              <a:sym typeface="+mn-ea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图片 5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49707"/>
          <a:stretch>
            <a:fillRect/>
          </a:stretch>
        </p:blipFill>
        <p:spPr>
          <a:xfrm>
            <a:off x="4609465" y="974725"/>
            <a:ext cx="3430905" cy="4534535"/>
          </a:xfrm>
          <a:prstGeom prst="rect">
            <a:avLst/>
          </a:prstGeom>
        </p:spPr>
      </p:pic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104140" y="88900"/>
            <a:ext cx="10046970" cy="9906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square" lIns="90488" tIns="44450" rIns="90488" bIns="44450">
            <a:noAutofit/>
          </a:bodyPr>
          <a:lstStyle/>
          <a:p>
            <a:pPr algn="ctr" eaLnBrk="0" hangingPunct="0"/>
            <a:endParaRPr lang="en-US" sz="2400" dirty="0">
              <a:latin typeface="+mj-lt"/>
              <a:cs typeface="+mj-lt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92405" y="88900"/>
            <a:ext cx="12265660" cy="77216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square" lIns="90488" tIns="44450" rIns="90488" bIns="44450">
            <a:noAutofit/>
          </a:bodyPr>
          <a:lstStyle/>
          <a:p>
            <a:pPr algn="l" eaLnBrk="0" hangingPunct="0"/>
            <a:r>
              <a:rPr lang="en-US" sz="2400" dirty="0">
                <a:latin typeface="+mj-lt"/>
                <a:cs typeface="+mj-lt"/>
                <a:sym typeface="+mn-ea"/>
              </a:rPr>
              <a:t>Our Method: Temporal-Ajusted Loss(TAL) </a:t>
            </a:r>
            <a:endParaRPr lang="en-US" sz="2400" dirty="0">
              <a:latin typeface="+mj-lt"/>
              <a:cs typeface="+mj-lt"/>
            </a:endParaRPr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rcRect r="54342"/>
          <a:stretch>
            <a:fillRect/>
          </a:stretch>
        </p:blipFill>
        <p:spPr>
          <a:xfrm>
            <a:off x="490855" y="974725"/>
            <a:ext cx="3114675" cy="4534535"/>
          </a:xfrm>
          <a:prstGeom prst="rect">
            <a:avLst/>
          </a:prstGeom>
        </p:spPr>
      </p:pic>
      <p:cxnSp>
        <p:nvCxnSpPr>
          <p:cNvPr id="19" name="直接连接符 18"/>
          <p:cNvCxnSpPr/>
          <p:nvPr>
            <p:custDataLst>
              <p:tags r:id="rId4"/>
            </p:custDataLst>
          </p:nvPr>
        </p:nvCxnSpPr>
        <p:spPr>
          <a:xfrm>
            <a:off x="328930" y="2757805"/>
            <a:ext cx="447675" cy="0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" name="直接连接符 24"/>
          <p:cNvCxnSpPr/>
          <p:nvPr>
            <p:custDataLst>
              <p:tags r:id="rId5"/>
            </p:custDataLst>
          </p:nvPr>
        </p:nvCxnSpPr>
        <p:spPr>
          <a:xfrm>
            <a:off x="328930" y="5142230"/>
            <a:ext cx="447675" cy="0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上箭头 25"/>
          <p:cNvSpPr/>
          <p:nvPr>
            <p:custDataLst>
              <p:tags r:id="rId6"/>
            </p:custDataLst>
          </p:nvPr>
        </p:nvSpPr>
        <p:spPr>
          <a:xfrm>
            <a:off x="490855" y="2757805"/>
            <a:ext cx="151130" cy="895985"/>
          </a:xfrm>
          <a:prstGeom prst="upArrow">
            <a:avLst>
              <a:gd name="adj1" fmla="val 23214"/>
              <a:gd name="adj2" fmla="val 182773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上箭头 26"/>
          <p:cNvSpPr/>
          <p:nvPr>
            <p:custDataLst>
              <p:tags r:id="rId7"/>
            </p:custDataLst>
          </p:nvPr>
        </p:nvSpPr>
        <p:spPr>
          <a:xfrm rot="10800000">
            <a:off x="490855" y="4246245"/>
            <a:ext cx="151130" cy="895985"/>
          </a:xfrm>
          <a:prstGeom prst="upArrow">
            <a:avLst>
              <a:gd name="adj1" fmla="val 23214"/>
              <a:gd name="adj2" fmla="val 182773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文本框 27"/>
          <p:cNvSpPr txBox="1"/>
          <p:nvPr>
            <p:custDataLst>
              <p:tags r:id="rId8"/>
            </p:custDataLst>
          </p:nvPr>
        </p:nvSpPr>
        <p:spPr>
          <a:xfrm>
            <a:off x="347980" y="3686175"/>
            <a:ext cx="5626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+mj-lt"/>
                <a:cs typeface="+mj-lt"/>
              </a:rPr>
              <a:t>Q</a:t>
            </a:r>
            <a:r>
              <a:rPr lang="en-US" altLang="zh-CN">
                <a:cs typeface="Arial" panose="020B0604020202020204" pitchFamily="34" charset="0"/>
              </a:rPr>
              <a:t>↑</a:t>
            </a:r>
            <a:endParaRPr lang="en-US" altLang="zh-CN">
              <a:cs typeface="Arial" panose="020B0604020202020204" pitchFamily="34" charset="0"/>
            </a:endParaRPr>
          </a:p>
        </p:txBody>
      </p:sp>
      <p:sp>
        <p:nvSpPr>
          <p:cNvPr id="29" name="文本框 28"/>
          <p:cNvSpPr txBox="1"/>
          <p:nvPr>
            <p:custDataLst>
              <p:tags r:id="rId9"/>
            </p:custDataLst>
          </p:nvPr>
        </p:nvSpPr>
        <p:spPr>
          <a:xfrm>
            <a:off x="2037080" y="4494530"/>
            <a:ext cx="1084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+mj-lt"/>
                <a:cs typeface="+mj-lt"/>
              </a:rPr>
              <a:t>w(</a:t>
            </a:r>
            <a:r>
              <a:rPr lang="en-US" altLang="zh-CN">
                <a:latin typeface="+mj-lt"/>
                <a:cs typeface="+mj-lt"/>
                <a:sym typeface="+mn-ea"/>
              </a:rPr>
              <a:t>Q</a:t>
            </a:r>
            <a:r>
              <a:rPr lang="en-US" altLang="zh-CN">
                <a:latin typeface="+mj-lt"/>
                <a:cs typeface="+mj-lt"/>
              </a:rPr>
              <a:t>)</a:t>
            </a:r>
            <a:r>
              <a:rPr lang="en-US" altLang="zh-CN">
                <a:cs typeface="Arial" panose="020B0604020202020204" pitchFamily="34" charset="0"/>
              </a:rPr>
              <a:t>↑</a:t>
            </a:r>
            <a:endParaRPr lang="en-US" altLang="zh-CN">
              <a:cs typeface="Arial" panose="020B0604020202020204" pitchFamily="34" charset="0"/>
            </a:endParaRPr>
          </a:p>
        </p:txBody>
      </p:sp>
      <p:cxnSp>
        <p:nvCxnSpPr>
          <p:cNvPr id="37" name="直接连接符 36"/>
          <p:cNvCxnSpPr/>
          <p:nvPr>
            <p:custDataLst>
              <p:tags r:id="rId10"/>
            </p:custDataLst>
          </p:nvPr>
        </p:nvCxnSpPr>
        <p:spPr>
          <a:xfrm>
            <a:off x="5643880" y="4084955"/>
            <a:ext cx="447675" cy="0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" name="直接连接符 37"/>
          <p:cNvCxnSpPr/>
          <p:nvPr>
            <p:custDataLst>
              <p:tags r:id="rId11"/>
            </p:custDataLst>
          </p:nvPr>
        </p:nvCxnSpPr>
        <p:spPr>
          <a:xfrm>
            <a:off x="5643880" y="5142230"/>
            <a:ext cx="447675" cy="0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" name="上箭头 38"/>
          <p:cNvSpPr/>
          <p:nvPr>
            <p:custDataLst>
              <p:tags r:id="rId12"/>
            </p:custDataLst>
          </p:nvPr>
        </p:nvSpPr>
        <p:spPr>
          <a:xfrm>
            <a:off x="5805805" y="4084955"/>
            <a:ext cx="151130" cy="267335"/>
          </a:xfrm>
          <a:prstGeom prst="upArrow">
            <a:avLst>
              <a:gd name="adj1" fmla="val 23214"/>
              <a:gd name="adj2" fmla="val 182773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上箭头 39"/>
          <p:cNvSpPr/>
          <p:nvPr>
            <p:custDataLst>
              <p:tags r:id="rId13"/>
            </p:custDataLst>
          </p:nvPr>
        </p:nvSpPr>
        <p:spPr>
          <a:xfrm rot="10800000">
            <a:off x="5805805" y="4893945"/>
            <a:ext cx="151130" cy="248285"/>
          </a:xfrm>
          <a:prstGeom prst="upArrow">
            <a:avLst>
              <a:gd name="adj1" fmla="val 23214"/>
              <a:gd name="adj2" fmla="val 182773"/>
            </a:avLst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" name="文本框 40"/>
          <p:cNvSpPr txBox="1"/>
          <p:nvPr>
            <p:custDataLst>
              <p:tags r:id="rId14"/>
            </p:custDataLst>
          </p:nvPr>
        </p:nvSpPr>
        <p:spPr>
          <a:xfrm>
            <a:off x="5643880" y="4424045"/>
            <a:ext cx="5626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+mj-lt"/>
                <a:cs typeface="+mj-lt"/>
              </a:rPr>
              <a:t>Q</a:t>
            </a:r>
            <a:r>
              <a:rPr lang="en-US" altLang="zh-CN">
                <a:cs typeface="Arial" panose="020B0604020202020204" pitchFamily="34" charset="0"/>
              </a:rPr>
              <a:t>↓</a:t>
            </a:r>
            <a:endParaRPr lang="en-US" altLang="zh-CN">
              <a:cs typeface="Arial" panose="020B0604020202020204" pitchFamily="34" charset="0"/>
            </a:endParaRPr>
          </a:p>
        </p:txBody>
      </p:sp>
      <p:sp>
        <p:nvSpPr>
          <p:cNvPr id="42" name="文本框 41"/>
          <p:cNvSpPr txBox="1"/>
          <p:nvPr>
            <p:custDataLst>
              <p:tags r:id="rId15"/>
            </p:custDataLst>
          </p:nvPr>
        </p:nvSpPr>
        <p:spPr>
          <a:xfrm>
            <a:off x="7352030" y="4494530"/>
            <a:ext cx="10845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+mj-lt"/>
                <a:cs typeface="+mj-lt"/>
              </a:rPr>
              <a:t>w(</a:t>
            </a:r>
            <a:r>
              <a:rPr lang="en-US" altLang="zh-CN">
                <a:latin typeface="+mj-lt"/>
                <a:cs typeface="+mj-lt"/>
                <a:sym typeface="+mn-ea"/>
              </a:rPr>
              <a:t>Q</a:t>
            </a:r>
            <a:r>
              <a:rPr lang="en-US" altLang="zh-CN">
                <a:latin typeface="+mj-lt"/>
                <a:cs typeface="+mj-lt"/>
              </a:rPr>
              <a:t>)</a:t>
            </a:r>
            <a:r>
              <a:rPr lang="en-US" altLang="zh-CN">
                <a:cs typeface="Arial" panose="020B0604020202020204" pitchFamily="34" charset="0"/>
              </a:rPr>
              <a:t>↓</a:t>
            </a:r>
            <a:endParaRPr lang="en-US" altLang="zh-CN">
              <a:cs typeface="Arial" panose="020B0604020202020204" pitchFamily="34" charset="0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037715" y="750570"/>
            <a:ext cx="27158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+mj-lt"/>
                <a:cs typeface="+mj-lt"/>
                <a:sym typeface="+mn-ea"/>
              </a:rPr>
              <a:t>Positive Supervision</a:t>
            </a:r>
            <a:endParaRPr lang="en-US" altLang="zh-CN">
              <a:latin typeface="+mj-lt"/>
              <a:cs typeface="+mj-lt"/>
              <a:sym typeface="+mn-ea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347980" y="5884545"/>
            <a:ext cx="255397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+mj-lt"/>
                <a:cs typeface="+mj-lt"/>
                <a:sym typeface="+mn-ea"/>
              </a:rPr>
              <a:t>Negative Supervision</a:t>
            </a:r>
            <a:endParaRPr lang="en-US" altLang="zh-CN">
              <a:latin typeface="+mj-lt"/>
              <a:cs typeface="+mj-lt"/>
              <a:sym typeface="+mn-ea"/>
            </a:endParaRPr>
          </a:p>
        </p:txBody>
      </p:sp>
      <p:sp>
        <p:nvSpPr>
          <p:cNvPr id="55" name="右箭头 54"/>
          <p:cNvSpPr/>
          <p:nvPr>
            <p:custDataLst>
              <p:tags r:id="rId16"/>
            </p:custDataLst>
          </p:nvPr>
        </p:nvSpPr>
        <p:spPr>
          <a:xfrm rot="20040000">
            <a:off x="1538605" y="899795"/>
            <a:ext cx="314325" cy="276225"/>
          </a:xfrm>
          <a:prstGeom prst="rightArrow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6" name="右箭头 55"/>
          <p:cNvSpPr/>
          <p:nvPr/>
        </p:nvSpPr>
        <p:spPr>
          <a:xfrm rot="6300000">
            <a:off x="1706245" y="5672455"/>
            <a:ext cx="314325" cy="276225"/>
          </a:xfrm>
          <a:prstGeom prst="rightArrow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63585" y="2138045"/>
            <a:ext cx="3828415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+mj-lt"/>
                <a:cs typeface="+mj-lt"/>
              </a:rPr>
              <a:t>Motivation: </a:t>
            </a:r>
            <a:endParaRPr lang="en-US" altLang="zh-CN">
              <a:latin typeface="+mj-lt"/>
              <a:cs typeface="+mj-lt"/>
            </a:endParaRPr>
          </a:p>
          <a:p>
            <a:r>
              <a:rPr lang="en-US" altLang="zh-CN" b="0">
                <a:latin typeface="+mj-lt"/>
                <a:cs typeface="+mj-lt"/>
              </a:rPr>
              <a:t>Classes with insufficient temporal positive supervision strength should be less sensitive to negative supersivion</a:t>
            </a:r>
            <a:endParaRPr lang="en-US" altLang="zh-CN" b="0">
              <a:latin typeface="+mj-lt"/>
              <a:cs typeface="+mj-lt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535" y="1764665"/>
            <a:ext cx="10895330" cy="3202940"/>
          </a:xfrm>
          <a:prstGeom prst="rect">
            <a:avLst/>
          </a:prstGeom>
        </p:spPr>
      </p:pic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104140" y="88900"/>
            <a:ext cx="10046970" cy="9906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square" lIns="90488" tIns="44450" rIns="90488" bIns="44450">
            <a:noAutofit/>
          </a:bodyPr>
          <a:lstStyle/>
          <a:p>
            <a:pPr algn="ctr" eaLnBrk="0" hangingPunct="0"/>
            <a:endParaRPr lang="en-US" sz="2400" dirty="0">
              <a:latin typeface="+mj-lt"/>
              <a:cs typeface="+mj-lt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92405" y="88900"/>
            <a:ext cx="12265660" cy="77216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square" lIns="90488" tIns="44450" rIns="90488" bIns="44450">
            <a:noAutofit/>
          </a:bodyPr>
          <a:lstStyle/>
          <a:p>
            <a:pPr algn="l" eaLnBrk="0" hangingPunct="0"/>
            <a:r>
              <a:rPr lang="en-US" sz="2400" dirty="0">
                <a:latin typeface="+mj-lt"/>
                <a:cs typeface="+mj-lt"/>
              </a:rPr>
              <a:t>Temporal-Ajusted Loss: Update of Q </a:t>
            </a:r>
            <a:endParaRPr lang="en-US" sz="2400" dirty="0">
              <a:latin typeface="+mj-lt"/>
              <a:cs typeface="+mj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38225" y="101282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+mj-lt"/>
                <a:cs typeface="+mj-lt"/>
                <a:sym typeface="+mn-ea"/>
              </a:rPr>
              <a:t>Q: </a:t>
            </a:r>
            <a:r>
              <a:rPr lang="en-US" altLang="zh-CN" u="sng">
                <a:latin typeface="+mj-lt"/>
                <a:cs typeface="+mj-lt"/>
                <a:sym typeface="+mn-ea"/>
              </a:rPr>
              <a:t>Current</a:t>
            </a:r>
            <a:r>
              <a:rPr lang="en-US" altLang="zh-CN">
                <a:latin typeface="+mj-lt"/>
                <a:cs typeface="+mj-lt"/>
                <a:sym typeface="+mn-ea"/>
              </a:rPr>
              <a:t> </a:t>
            </a:r>
            <a:r>
              <a:rPr lang="en-US" altLang="zh-CN">
                <a:solidFill>
                  <a:schemeClr val="accent2"/>
                </a:solidFill>
                <a:latin typeface="+mj-lt"/>
                <a:cs typeface="+mj-lt"/>
                <a:sym typeface="+mn-ea"/>
              </a:rPr>
              <a:t>Positive</a:t>
            </a:r>
            <a:r>
              <a:rPr lang="en-US" altLang="zh-CN">
                <a:latin typeface="+mj-lt"/>
                <a:cs typeface="+mj-lt"/>
                <a:sym typeface="+mn-ea"/>
              </a:rPr>
              <a:t> Supervision Strength</a:t>
            </a:r>
            <a:endParaRPr lang="en-US" altLang="zh-CN">
              <a:latin typeface="+mj-lt"/>
              <a:cs typeface="+mj-lt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543050" y="3679190"/>
            <a:ext cx="1143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>
                <a:latin typeface="+mj-lt"/>
                <a:cs typeface="+mj-lt"/>
                <a:sym typeface="+mn-ea"/>
              </a:rPr>
              <a:t>Q[N] </a:t>
            </a:r>
            <a:br>
              <a:rPr lang="en-US" altLang="zh-CN">
                <a:latin typeface="+mj-lt"/>
                <a:cs typeface="+mj-lt"/>
                <a:sym typeface="+mn-ea"/>
              </a:rPr>
            </a:br>
            <a:r>
              <a:rPr lang="en-US" altLang="zh-CN">
                <a:latin typeface="+mj-lt"/>
                <a:cs typeface="+mj-lt"/>
                <a:sym typeface="+mn-ea"/>
              </a:rPr>
              <a:t>at step N</a:t>
            </a:r>
            <a:endParaRPr lang="en-US" altLang="zh-CN">
              <a:latin typeface="+mj-lt"/>
              <a:cs typeface="+mj-lt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404350" y="3679190"/>
            <a:ext cx="172339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>
                <a:latin typeface="+mj-lt"/>
                <a:cs typeface="+mj-lt"/>
                <a:sym typeface="+mn-ea"/>
              </a:rPr>
              <a:t>Q[N+1] </a:t>
            </a:r>
            <a:br>
              <a:rPr lang="en-US" altLang="zh-CN">
                <a:latin typeface="+mj-lt"/>
                <a:cs typeface="+mj-lt"/>
                <a:sym typeface="+mn-ea"/>
              </a:rPr>
            </a:br>
            <a:r>
              <a:rPr lang="en-US" altLang="zh-CN">
                <a:latin typeface="+mj-lt"/>
                <a:cs typeface="+mj-lt"/>
                <a:sym typeface="+mn-ea"/>
              </a:rPr>
              <a:t>at step N+1</a:t>
            </a:r>
            <a:endParaRPr lang="en-US" altLang="zh-CN">
              <a:latin typeface="+mj-lt"/>
              <a:cs typeface="+mj-lt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200900" y="3571240"/>
            <a:ext cx="1143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zh-CN" sz="1800">
                <a:solidFill>
                  <a:schemeClr val="bg1"/>
                </a:solidFill>
                <a:latin typeface="+mj-lt"/>
                <a:cs typeface="+mj-lt"/>
                <a:sym typeface="+mn-ea"/>
              </a:rPr>
              <a:t>Time</a:t>
            </a:r>
            <a:br>
              <a:rPr lang="en-US" altLang="zh-CN" sz="1800">
                <a:solidFill>
                  <a:schemeClr val="bg1"/>
                </a:solidFill>
                <a:latin typeface="+mj-lt"/>
                <a:cs typeface="+mj-lt"/>
                <a:sym typeface="+mn-ea"/>
              </a:rPr>
            </a:br>
            <a:r>
              <a:rPr lang="en-US" altLang="zh-CN" sz="1800">
                <a:solidFill>
                  <a:schemeClr val="bg1"/>
                </a:solidFill>
                <a:latin typeface="+mj-lt"/>
                <a:cs typeface="+mj-lt"/>
                <a:sym typeface="+mn-ea"/>
              </a:rPr>
              <a:t>Decay</a:t>
            </a:r>
            <a:br>
              <a:rPr lang="en-US" altLang="zh-CN" sz="1800">
                <a:solidFill>
                  <a:schemeClr val="bg1"/>
                </a:solidFill>
                <a:latin typeface="+mj-lt"/>
                <a:cs typeface="+mj-lt"/>
                <a:sym typeface="+mn-ea"/>
              </a:rPr>
            </a:br>
            <a:r>
              <a:rPr lang="en-US" altLang="zh-CN" sz="1800">
                <a:solidFill>
                  <a:schemeClr val="bg1"/>
                </a:solidFill>
                <a:latin typeface="+mj-lt"/>
                <a:cs typeface="+mj-lt"/>
                <a:sym typeface="+mn-ea"/>
              </a:rPr>
              <a:t>Factor</a:t>
            </a:r>
            <a:endParaRPr lang="en-US" altLang="zh-CN" sz="1800">
              <a:solidFill>
                <a:schemeClr val="bg1"/>
              </a:solidFill>
              <a:latin typeface="+mj-lt"/>
              <a:cs typeface="+mj-lt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794125" y="2207895"/>
            <a:ext cx="114300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>
                <a:solidFill>
                  <a:schemeClr val="bg1"/>
                </a:solidFill>
                <a:latin typeface="+mj-lt"/>
                <a:cs typeface="+mj-lt"/>
                <a:sym typeface="+mn-ea"/>
              </a:rPr>
              <a:t>+1 </a:t>
            </a:r>
            <a:br>
              <a:rPr lang="en-US" altLang="zh-CN">
                <a:solidFill>
                  <a:schemeClr val="bg1"/>
                </a:solidFill>
                <a:latin typeface="+mj-lt"/>
                <a:cs typeface="+mj-lt"/>
                <a:sym typeface="+mn-ea"/>
              </a:rPr>
            </a:br>
            <a:r>
              <a:rPr lang="en-US" altLang="zh-CN">
                <a:solidFill>
                  <a:schemeClr val="bg1"/>
                </a:solidFill>
                <a:latin typeface="+mj-lt"/>
                <a:ea typeface="宋体" panose="02010600030101010101" pitchFamily="2" charset="-122"/>
                <a:cs typeface="+mj-lt"/>
                <a:sym typeface="+mn-ea"/>
              </a:rPr>
              <a:t>Positive Sample</a:t>
            </a:r>
            <a:endParaRPr lang="en-US" altLang="zh-CN">
              <a:solidFill>
                <a:schemeClr val="bg1"/>
              </a:solidFill>
              <a:latin typeface="+mj-lt"/>
              <a:ea typeface="宋体" panose="02010600030101010101" pitchFamily="2" charset="-122"/>
              <a:cs typeface="+mj-lt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324725" y="2207895"/>
            <a:ext cx="138747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>
                <a:solidFill>
                  <a:schemeClr val="bg1"/>
                </a:solidFill>
                <a:latin typeface="+mj-lt"/>
                <a:cs typeface="+mj-lt"/>
                <a:sym typeface="+mn-ea"/>
              </a:rPr>
              <a:t>+1 </a:t>
            </a:r>
            <a:br>
              <a:rPr lang="en-US" altLang="zh-CN">
                <a:solidFill>
                  <a:schemeClr val="bg1"/>
                </a:solidFill>
                <a:latin typeface="+mj-lt"/>
                <a:cs typeface="+mj-lt"/>
                <a:sym typeface="+mn-ea"/>
              </a:rPr>
            </a:br>
            <a:r>
              <a:rPr lang="en-US" altLang="zh-CN">
                <a:solidFill>
                  <a:schemeClr val="bg1"/>
                </a:solidFill>
                <a:latin typeface="+mj-lt"/>
                <a:ea typeface="宋体" panose="02010600030101010101" pitchFamily="2" charset="-122"/>
                <a:cs typeface="+mj-lt"/>
                <a:sym typeface="+mn-ea"/>
              </a:rPr>
              <a:t>Negative</a:t>
            </a:r>
            <a:br>
              <a:rPr lang="en-US" altLang="zh-CN">
                <a:solidFill>
                  <a:schemeClr val="bg1"/>
                </a:solidFill>
                <a:latin typeface="+mj-lt"/>
                <a:ea typeface="宋体" panose="02010600030101010101" pitchFamily="2" charset="-122"/>
                <a:cs typeface="+mj-lt"/>
                <a:sym typeface="+mn-ea"/>
              </a:rPr>
            </a:br>
            <a:r>
              <a:rPr lang="en-US" altLang="zh-CN">
                <a:solidFill>
                  <a:schemeClr val="bg1"/>
                </a:solidFill>
                <a:latin typeface="+mj-lt"/>
                <a:ea typeface="宋体" panose="02010600030101010101" pitchFamily="2" charset="-122"/>
                <a:cs typeface="+mj-lt"/>
                <a:sym typeface="+mn-ea"/>
              </a:rPr>
              <a:t>Sample</a:t>
            </a:r>
            <a:endParaRPr lang="en-US" altLang="zh-CN">
              <a:solidFill>
                <a:schemeClr val="bg1"/>
              </a:solidFill>
              <a:latin typeface="+mj-lt"/>
              <a:ea typeface="宋体" panose="02010600030101010101" pitchFamily="2" charset="-122"/>
              <a:cs typeface="+mj-lt"/>
              <a:sym typeface="+mn-ea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104140" y="88900"/>
            <a:ext cx="10046970" cy="9906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square" lIns="90488" tIns="44450" rIns="90488" bIns="44450">
            <a:noAutofit/>
          </a:bodyPr>
          <a:lstStyle/>
          <a:p>
            <a:pPr algn="ctr" eaLnBrk="0" hangingPunct="0"/>
            <a:endParaRPr lang="en-US" sz="2400" dirty="0">
              <a:latin typeface="+mj-lt"/>
              <a:cs typeface="+mj-lt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92405" y="88900"/>
            <a:ext cx="12265660" cy="77216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square" lIns="90488" tIns="44450" rIns="90488" bIns="44450">
            <a:noAutofit/>
          </a:bodyPr>
          <a:lstStyle/>
          <a:p>
            <a:pPr algn="l" eaLnBrk="0" hangingPunct="0"/>
            <a:r>
              <a:rPr lang="en-US" sz="2400" dirty="0">
                <a:latin typeface="+mj-lt"/>
                <a:cs typeface="+mj-lt"/>
              </a:rPr>
              <a:t>Experiments </a:t>
            </a:r>
            <a:endParaRPr lang="en-US" sz="2400" dirty="0">
              <a:latin typeface="+mj-lt"/>
              <a:cs typeface="+mj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r="86384"/>
          <a:stretch>
            <a:fillRect/>
          </a:stretch>
        </p:blipFill>
        <p:spPr>
          <a:xfrm>
            <a:off x="1895475" y="1079500"/>
            <a:ext cx="1652270" cy="41624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47839"/>
          <a:stretch>
            <a:fillRect/>
          </a:stretch>
        </p:blipFill>
        <p:spPr>
          <a:xfrm>
            <a:off x="3547745" y="1079500"/>
            <a:ext cx="6329680" cy="41624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4350" y="2557145"/>
            <a:ext cx="4081780" cy="21723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267960" y="5460365"/>
            <a:ext cx="23431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+mj-lt"/>
                <a:cs typeface="+mj-lt"/>
              </a:rPr>
              <a:t>Plug&amp;Play</a:t>
            </a:r>
            <a:endParaRPr lang="en-US" altLang="zh-CN">
              <a:latin typeface="+mj-lt"/>
              <a:cs typeface="+mj-lt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104140" y="88900"/>
            <a:ext cx="10046970" cy="99060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square" lIns="90488" tIns="44450" rIns="90488" bIns="44450">
            <a:noAutofit/>
          </a:bodyPr>
          <a:lstStyle/>
          <a:p>
            <a:pPr algn="ctr" eaLnBrk="0" hangingPunct="0"/>
            <a:endParaRPr lang="en-US" sz="2400" dirty="0">
              <a:latin typeface="+mj-lt"/>
              <a:cs typeface="+mj-lt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92405" y="88900"/>
            <a:ext cx="12265660" cy="772160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wrap="square" lIns="90488" tIns="44450" rIns="90488" bIns="44450">
            <a:noAutofit/>
          </a:bodyPr>
          <a:lstStyle/>
          <a:p>
            <a:pPr algn="l" eaLnBrk="0" hangingPunct="0"/>
            <a:r>
              <a:rPr lang="en-US" sz="2400" dirty="0">
                <a:latin typeface="+mj-lt"/>
                <a:cs typeface="+mj-lt"/>
              </a:rPr>
              <a:t>Experiments </a:t>
            </a:r>
            <a:endParaRPr lang="en-US" sz="2400" dirty="0">
              <a:latin typeface="+mj-lt"/>
              <a:cs typeface="+mj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725" y="1475105"/>
            <a:ext cx="5191125" cy="276288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883410" y="4551680"/>
            <a:ext cx="25812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+mj-lt"/>
                <a:cs typeface="+mj-lt"/>
              </a:rPr>
              <a:t>High Time Efficiency</a:t>
            </a:r>
            <a:endParaRPr lang="en-US" altLang="zh-CN">
              <a:latin typeface="+mj-lt"/>
              <a:cs typeface="+mj-lt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025" y="506095"/>
            <a:ext cx="5054600" cy="45491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898005" y="5055235"/>
            <a:ext cx="47796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+mj-lt"/>
                <a:cs typeface="+mj-lt"/>
              </a:rPr>
              <a:t>Flatten the Asymmetric Curve of Recall</a:t>
            </a:r>
            <a:endParaRPr lang="en-US" altLang="zh-CN">
              <a:latin typeface="+mj-lt"/>
              <a:cs typeface="+mj-lt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679950" y="3004185"/>
            <a:ext cx="292417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zh-CN" sz="4000" dirty="0">
                <a:latin typeface="+mj-lt"/>
                <a:cs typeface="+mj-lt"/>
                <a:sym typeface="+mn-ea"/>
              </a:rPr>
              <a:t>Thank you!</a:t>
            </a:r>
            <a:endParaRPr lang="en-US" altLang="zh-CN" sz="4000" dirty="0">
              <a:latin typeface="+mj-lt"/>
              <a:cs typeface="+mj-lt"/>
              <a:sym typeface="+mn-ea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DIAGRAM_VIRTUALLY_FRAME" val="{&quot;height&quot;:59.9,&quot;left&quot;:78,&quot;top&quot;:430.35,&quot;width&quot;:465.95}"/>
</p:tagLst>
</file>

<file path=ppt/tags/tag2.xml><?xml version="1.0" encoding="utf-8"?>
<p:tagLst xmlns:p="http://schemas.openxmlformats.org/presentationml/2006/main">
  <p:tag name="KSO_WM_DIAGRAM_VIRTUALLY_FRAME" val="{&quot;height&quot;:59.9,&quot;left&quot;:78,&quot;top&quot;:430.35,&quot;width&quot;:465.95}"/>
</p:tagLst>
</file>

<file path=ppt/tags/tag3.xml><?xml version="1.0" encoding="utf-8"?>
<p:tagLst xmlns:p="http://schemas.openxmlformats.org/presentationml/2006/main">
  <p:tag name="KSO_WM_DIAGRAM_VIRTUALLY_FRAME" val="{&quot;height&quot;:59.9,&quot;left&quot;:78,&quot;top&quot;:430.35,&quot;width&quot;:465.95}"/>
</p:tagLst>
</file>

<file path=ppt/tags/tag4.xml><?xml version="1.0" encoding="utf-8"?>
<p:tagLst xmlns:p="http://schemas.openxmlformats.org/presentationml/2006/main">
  <p:tag name="KSO_WM_DIAGRAM_VIRTUALLY_FRAME" val="{&quot;height&quot;:59.9,&quot;left&quot;:78,&quot;top&quot;:430.35,&quot;width&quot;:465.95}"/>
</p:tagLst>
</file>

<file path=ppt/tags/tag5.xml><?xml version="1.0" encoding="utf-8"?>
<p:tagLst xmlns:p="http://schemas.openxmlformats.org/presentationml/2006/main">
  <p:tag name="KSO_WM_DIAGRAM_VIRTUALLY_FRAME" val="{&quot;height&quot;:367.2742281950183,&quot;left&quot;:80.95,&quot;top&quot;:66.52577180498172,&quot;width&quot;:805.85}"/>
</p:tagLst>
</file>

<file path=ppt/tags/tag6.xml><?xml version="1.0" encoding="utf-8"?>
<p:tagLst xmlns:p="http://schemas.openxmlformats.org/presentationml/2006/main">
  <p:tag name="KSO_WM_DIAGRAM_VIRTUALLY_FRAME" val="{&quot;height&quot;:367.2742281950183,&quot;left&quot;:80.95,&quot;top&quot;:66.52577180498172,&quot;width&quot;:805.85}"/>
</p:tagLst>
</file>

<file path=ppt/tags/tag7.xml><?xml version="1.0" encoding="utf-8"?>
<p:tagLst xmlns:p="http://schemas.openxmlformats.org/presentationml/2006/main">
  <p:tag name="KSO_WM_DIAGRAM_VIRTUALLY_FRAME" val="{&quot;height&quot;:375.5242281950183,&quot;left&quot;:80.95,&quot;top&quot;:66.52577180498172,&quot;width&quot;:805.85}"/>
</p:tagLst>
</file>

<file path=ppt/tags/tag8.xml><?xml version="1.0" encoding="utf-8"?>
<p:tagLst xmlns:p="http://schemas.openxmlformats.org/presentationml/2006/main">
  <p:tag name="KSO_WM_DIAGRAM_VIRTUALLY_FRAME" val="{&quot;height&quot;:375.5242281950183,&quot;left&quot;:80.95,&quot;top&quot;:66.52577180498172,&quot;width&quot;:805.85}"/>
</p:tagLst>
</file>

<file path=ppt/tags/tag9.xml><?xml version="1.0" encoding="utf-8"?>
<p:tagLst xmlns:p="http://schemas.openxmlformats.org/presentationml/2006/main">
  <p:tag name="KSO_WM_DIAGRAM_VIRTUALLY_FRAME" val="{&quot;height&quot;:375.5242281950183,&quot;left&quot;:80.95,&quot;top&quot;:66.52577180498172,&quot;width&quot;:805.85}"/>
</p:tagLst>
</file>

<file path=ppt/tags/tag10.xml><?xml version="1.0" encoding="utf-8"?>
<p:tagLst xmlns:p="http://schemas.openxmlformats.org/presentationml/2006/main">
  <p:tag name="KSO_WM_DIAGRAM_VIRTUALLY_FRAME" val="{&quot;height&quot;:375.5242281950183,&quot;left&quot;:80.95,&quot;top&quot;:66.52577180498172,&quot;width&quot;:805.85}"/>
</p:tagLst>
</file>

<file path=ppt/tags/tag11.xml><?xml version="1.0" encoding="utf-8"?>
<p:tagLst xmlns:p="http://schemas.openxmlformats.org/presentationml/2006/main">
  <p:tag name="KSO_WM_DIAGRAM_VIRTUALLY_FRAME" val="{&quot;height&quot;:375.5242281950183,&quot;left&quot;:80.95,&quot;top&quot;:66.52577180498172,&quot;width&quot;:805.85}"/>
</p:tagLst>
</file>

<file path=ppt/tags/tag12.xml><?xml version="1.0" encoding="utf-8"?>
<p:tagLst xmlns:p="http://schemas.openxmlformats.org/presentationml/2006/main">
  <p:tag name="KSO_WM_DIAGRAM_VIRTUALLY_FRAME" val="{&quot;height&quot;:375.5242281950183,&quot;left&quot;:80.95,&quot;top&quot;:66.52577180498172,&quot;width&quot;:805.85}"/>
</p:tagLst>
</file>

<file path=ppt/tags/tag13.xml><?xml version="1.0" encoding="utf-8"?>
<p:tagLst xmlns:p="http://schemas.openxmlformats.org/presentationml/2006/main">
  <p:tag name="KSO_WM_DIAGRAM_VIRTUALLY_FRAME" val="{&quot;height&quot;:375.5242281950183,&quot;left&quot;:80.95,&quot;top&quot;:66.52577180498172,&quot;width&quot;:805.85}"/>
</p:tagLst>
</file>

<file path=ppt/tags/tag14.xml><?xml version="1.0" encoding="utf-8"?>
<p:tagLst xmlns:p="http://schemas.openxmlformats.org/presentationml/2006/main">
  <p:tag name="KSO_WM_DIAGRAM_VIRTUALLY_FRAME" val="{&quot;height&quot;:375.5242281950183,&quot;left&quot;:80.95,&quot;top&quot;:66.52577180498172,&quot;width&quot;:805.85}"/>
</p:tagLst>
</file>

<file path=ppt/tags/tag15.xml><?xml version="1.0" encoding="utf-8"?>
<p:tagLst xmlns:p="http://schemas.openxmlformats.org/presentationml/2006/main">
  <p:tag name="KSO_WM_DIAGRAM_VIRTUALLY_FRAME" val="{&quot;height&quot;:375.5242281950183,&quot;left&quot;:80.95,&quot;top&quot;:66.52577180498172,&quot;width&quot;:805.85}"/>
</p:tagLst>
</file>

<file path=ppt/tags/tag16.xml><?xml version="1.0" encoding="utf-8"?>
<p:tagLst xmlns:p="http://schemas.openxmlformats.org/presentationml/2006/main">
  <p:tag name="KSO_WM_DIAGRAM_VIRTUALLY_FRAME" val="{&quot;height&quot;:375.5242281950183,&quot;left&quot;:80.95,&quot;top&quot;:66.52577180498172,&quot;width&quot;:805.85}"/>
</p:tagLst>
</file>

<file path=ppt/tags/tag17.xml><?xml version="1.0" encoding="utf-8"?>
<p:tagLst xmlns:p="http://schemas.openxmlformats.org/presentationml/2006/main">
  <p:tag name="KSO_WM_DIAGRAM_VIRTUALLY_FRAME" val="{&quot;height&quot;:375.5242281950183,&quot;left&quot;:80.95,&quot;top&quot;:66.52577180498172,&quot;width&quot;:805.85}"/>
</p:tagLst>
</file>

<file path=ppt/tags/tag18.xml><?xml version="1.0" encoding="utf-8"?>
<p:tagLst xmlns:p="http://schemas.openxmlformats.org/presentationml/2006/main">
  <p:tag name="KSO_WM_DIAGRAM_VIRTUALLY_FRAME" val="{&quot;height&quot;:375.5242281950183,&quot;left&quot;:80.95,&quot;top&quot;:66.52577180498172,&quot;width&quot;:805.85}"/>
</p:tagLst>
</file>

<file path=ppt/tags/tag19.xml><?xml version="1.0" encoding="utf-8"?>
<p:tagLst xmlns:p="http://schemas.openxmlformats.org/presentationml/2006/main">
  <p:tag name="KSO_WM_DIAGRAM_VIRTUALLY_FRAME" val="{&quot;height&quot;:375.5242281950183,&quot;left&quot;:80.95,&quot;top&quot;:66.52577180498172,&quot;width&quot;:805.85}"/>
</p:tagLst>
</file>

<file path=ppt/tags/tag20.xml><?xml version="1.0" encoding="utf-8"?>
<p:tagLst xmlns:p="http://schemas.openxmlformats.org/presentationml/2006/main">
  <p:tag name="KSO_WM_DIAGRAM_VIRTUALLY_FRAME" val="{&quot;height&quot;:375.5242281950183,&quot;left&quot;:80.95,&quot;top&quot;:66.52577180498172,&quot;width&quot;:805.85}"/>
</p:tagLst>
</file>

<file path=ppt/tags/tag21.xml><?xml version="1.0" encoding="utf-8"?>
<p:tagLst xmlns:p="http://schemas.openxmlformats.org/presentationml/2006/main">
  <p:tag name="KSO_WM_DIAGRAM_VIRTUALLY_FRAME" val="{&quot;height&quot;:375.5242281950183,&quot;left&quot;:80.95,&quot;top&quot;:66.52577180498172,&quot;width&quot;:805.85}"/>
</p:tagLst>
</file>

<file path=ppt/theme/theme1.xml><?xml version="1.0" encoding="utf-8"?>
<a:theme xmlns:a="http://schemas.openxmlformats.org/drawingml/2006/main" name="Default Design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618FFD"/>
      </a:hlink>
      <a:folHlink>
        <a:srgbClr val="CECECE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0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solidFill>
          <a:schemeClr val="bg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/>
      <a:lstStyle/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1371</Words>
  <Application>WPS 演示</Application>
  <PresentationFormat>Widescreen</PresentationFormat>
  <Paragraphs>110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宋体</vt:lpstr>
      <vt:lpstr>Wingdings</vt:lpstr>
      <vt:lpstr>MS PGothic</vt:lpstr>
      <vt:lpstr>ヒラギノ角ゴ Pro W3</vt:lpstr>
      <vt:lpstr>Yu Gothic</vt:lpstr>
      <vt:lpstr>Times New Roman</vt:lpstr>
      <vt:lpstr>Cambria Math</vt:lpstr>
      <vt:lpstr>微软雅黑</vt:lpstr>
      <vt:lpstr>Arial Unicode MS</vt:lpstr>
      <vt:lpstr>ヒラギノ角ゴ Pro W3</vt:lpstr>
      <vt:lpstr>Segoe Print</vt:lpstr>
      <vt:lpstr>Default Design</vt:lpstr>
      <vt:lpstr>Temporal Imbalance of Positive and Negative Supervision in Class-Incremental Learning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Purdue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and Video Compression</dc:title>
  <dc:creator>wolfgang</dc:creator>
  <cp:lastModifiedBy>jingema</cp:lastModifiedBy>
  <cp:revision>97</cp:revision>
  <cp:lastPrinted>1997-05-14T17:47:00Z</cp:lastPrinted>
  <dcterms:created xsi:type="dcterms:W3CDTF">2015-06-10T18:24:00Z</dcterms:created>
  <dcterms:modified xsi:type="dcterms:W3CDTF">2026-06-06T23:49:51Z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2024-01-18T12:59:15Z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a91c6623-f9da-40ec-a74e-55c4f968cc21</vt:lpwstr>
  </property>
  <property fmtid="{D5CDD505-2E9C-101B-9397-08002B2CF9AE}" pid="8" name="MSIP_Label_4044bd30-2ed7-4c9d-9d12-46200872a97b_ContentBits">
    <vt:lpwstr>0</vt:lpwstr>
  </property>
  <property fmtid="{D5CDD505-2E9C-101B-9397-08002B2CF9AE}" pid="9" name="ICV">
    <vt:lpwstr>732E1D7C7D9B4AD4838BCE6A0F1F063C_12</vt:lpwstr>
  </property>
  <property fmtid="{D5CDD505-2E9C-101B-9397-08002B2CF9AE}" pid="10" name="KSOProductBuildVer">
    <vt:lpwstr>2052-12.1.0.26375</vt:lpwstr>
  </property>
</Properties>
</file>